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86"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Hello, my name is Elizabeth Wing, and today I will be presenting Green Pace's secure software development recommendations.</a:t>
            </a:r>
          </a:p>
          <a:p>
            <a:r>
              <a:rPr lang="en-US" sz="1100" b="0" i="0" u="none" strike="noStrike" cap="none" dirty="0">
                <a:solidFill>
                  <a:srgbClr val="000000"/>
                </a:solidFill>
                <a:effectLst/>
                <a:latin typeface="Arial"/>
                <a:ea typeface="Arial"/>
                <a:cs typeface="Arial"/>
                <a:sym typeface="Arial"/>
              </a:rPr>
              <a:t>This presentation will cover the importance of secure coding standards, risk assessment, encryption, access controls, and automated security testing. I will also demonstrate how unit testing can help identify vulnerabilities before software is deployed.</a:t>
            </a:r>
          </a:p>
          <a:p>
            <a:r>
              <a:rPr lang="en-US" sz="1100" b="0" i="0" u="none" strike="noStrike" cap="none" dirty="0">
                <a:solidFill>
                  <a:srgbClr val="000000"/>
                </a:solidFill>
                <a:effectLst/>
                <a:latin typeface="Arial"/>
                <a:ea typeface="Arial"/>
                <a:cs typeface="Arial"/>
                <a:sym typeface="Arial"/>
              </a:rPr>
              <a:t>The goal is to show how Green Pace can strengthen its development practices and reduce security risks throughout the software development lifecycle.</a:t>
            </a:r>
          </a:p>
          <a:p>
            <a:pPr marL="0" lvl="0" indent="0" algn="l" rtl="0">
              <a:lnSpc>
                <a:spcPct val="100000"/>
              </a:lnSpc>
              <a:spcBef>
                <a:spcPts val="0"/>
              </a:spcBef>
              <a:spcAft>
                <a:spcPts val="0"/>
              </a:spcAft>
              <a:buSzPts val="1100"/>
              <a:buNone/>
            </a:pP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Defense in depth is an important part of Green Pace's security strategy because it uses multiple layers of protection rather than relying on a single security measure.</a:t>
            </a:r>
          </a:p>
          <a:p>
            <a:r>
              <a:rPr lang="en-US" sz="1100" b="0" i="0" u="none" strike="noStrike" cap="none" dirty="0">
                <a:solidFill>
                  <a:srgbClr val="000000"/>
                </a:solidFill>
                <a:effectLst/>
                <a:latin typeface="Arial"/>
                <a:ea typeface="Arial"/>
                <a:cs typeface="Arial"/>
                <a:sym typeface="Arial"/>
              </a:rPr>
              <a:t>These layers include secure coding practices, input validation, encryption, access controls, and security testing. If one layer fails or is bypassed, the remaining protections can help prevent an attacker from compromising the entire system.</a:t>
            </a:r>
          </a:p>
          <a:p>
            <a:r>
              <a:rPr lang="en-US" sz="1100" b="0" i="0" u="none" strike="noStrike" cap="none" dirty="0">
                <a:solidFill>
                  <a:srgbClr val="000000"/>
                </a:solidFill>
                <a:effectLst/>
                <a:latin typeface="Arial"/>
                <a:ea typeface="Arial"/>
                <a:cs typeface="Arial"/>
                <a:sym typeface="Arial"/>
              </a:rPr>
              <a:t>By incorporating defense in depth throughout software development, Green Pace can reduce vulnerabilities, protect sensitive information, and strengthen the overall security of its applications.</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uses a threat matrix to organize ten coding vulnerabilities based on their severity, likelihood, and remediation cost.</a:t>
            </a:r>
          </a:p>
          <a:p>
            <a:r>
              <a:rPr lang="en-US" sz="1100" b="0" i="0" u="none" strike="noStrike" cap="none" dirty="0">
                <a:solidFill>
                  <a:srgbClr val="000000"/>
                </a:solidFill>
                <a:effectLst/>
                <a:latin typeface="Arial"/>
                <a:ea typeface="Arial"/>
                <a:cs typeface="Arial"/>
                <a:sym typeface="Arial"/>
              </a:rPr>
              <a:t>SQL injection is ranked at Level 5 because it can expose sensitive database information. Input validation and string storage issues are ranked at Level 4 because they can lead to security vulnerabilities when data is handled incorrectly.</a:t>
            </a:r>
          </a:p>
          <a:p>
            <a:r>
              <a:rPr lang="en-US" sz="1100" b="0" i="0" u="none" strike="noStrike" cap="none" dirty="0">
                <a:solidFill>
                  <a:srgbClr val="000000"/>
                </a:solidFill>
                <a:effectLst/>
                <a:latin typeface="Arial"/>
                <a:ea typeface="Arial"/>
                <a:cs typeface="Arial"/>
                <a:sym typeface="Arial"/>
              </a:rPr>
              <a:t>Other risks include memory protection, exception handling, and resource management. These are also important, even when their likelihood is lower.</a:t>
            </a:r>
          </a:p>
          <a:p>
            <a:r>
              <a:rPr lang="en-US" sz="1100" b="0" i="0" u="none" strike="noStrike" cap="none" dirty="0">
                <a:solidFill>
                  <a:srgbClr val="000000"/>
                </a:solidFill>
                <a:effectLst/>
                <a:latin typeface="Arial"/>
                <a:ea typeface="Arial"/>
                <a:cs typeface="Arial"/>
                <a:sym typeface="Arial"/>
              </a:rPr>
              <a:t>By identifying and prioritizing these threats, Green Pace can address the most serious vulnerabilities first and use automated security tools to detect potential problems earlier.</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Pace's security policy is organized around ten guiding principles that help developers create safer software.</a:t>
            </a:r>
          </a:p>
          <a:p>
            <a:r>
              <a:rPr lang="en-US" sz="1100" b="0" i="0" u="none" strike="noStrike" cap="none" dirty="0">
                <a:solidFill>
                  <a:srgbClr val="000000"/>
                </a:solidFill>
                <a:effectLst/>
                <a:latin typeface="Arial"/>
                <a:ea typeface="Arial"/>
                <a:cs typeface="Arial"/>
                <a:sym typeface="Arial"/>
              </a:rPr>
              <a:t>Each principle supports secure development practices and connects to the coding standards listed on this slide.</a:t>
            </a:r>
          </a:p>
          <a:p>
            <a:r>
              <a:rPr lang="en-US" sz="1100" b="0" i="0" u="none" strike="noStrike" cap="none" dirty="0">
                <a:solidFill>
                  <a:srgbClr val="000000"/>
                </a:solidFill>
                <a:effectLst/>
                <a:latin typeface="Arial"/>
                <a:ea typeface="Arial"/>
                <a:cs typeface="Arial"/>
                <a:sym typeface="Arial"/>
              </a:rPr>
              <a:t>For example, validating input data supports standards involving data types, integer ranges, SQL injection prevention, and input validation.</a:t>
            </a:r>
          </a:p>
          <a:p>
            <a:r>
              <a:rPr lang="en-US" sz="1100" b="0" i="0" u="none" strike="noStrike" cap="none" dirty="0">
                <a:solidFill>
                  <a:srgbClr val="000000"/>
                </a:solidFill>
                <a:effectLst/>
                <a:latin typeface="Arial"/>
                <a:ea typeface="Arial"/>
                <a:cs typeface="Arial"/>
                <a:sym typeface="Arial"/>
              </a:rPr>
              <a:t>The principle of defense in depth supports multiple standards because it encourages developers to use several layers of protection rather than relying on a single security measure.</a:t>
            </a:r>
          </a:p>
          <a:p>
            <a:r>
              <a:rPr lang="en-US" sz="1100" b="0" i="0" u="none" strike="noStrike" cap="none" dirty="0">
                <a:solidFill>
                  <a:srgbClr val="000000"/>
                </a:solidFill>
                <a:effectLst/>
                <a:latin typeface="Arial"/>
                <a:ea typeface="Arial"/>
                <a:cs typeface="Arial"/>
                <a:sym typeface="Arial"/>
              </a:rPr>
              <a:t>Other principles, such as default deny and least privilege, guide access control decisions even when they do not directly map to one of the ten coding standards.</a:t>
            </a:r>
          </a:p>
          <a:p>
            <a:r>
              <a:rPr lang="en-US" sz="1100" b="0" i="0" u="none" strike="noStrike" cap="none" dirty="0">
                <a:solidFill>
                  <a:srgbClr val="000000"/>
                </a:solidFill>
                <a:effectLst/>
                <a:latin typeface="Arial"/>
                <a:ea typeface="Arial"/>
                <a:cs typeface="Arial"/>
                <a:sym typeface="Arial"/>
              </a:rPr>
              <a:t>Together, these principles establish a consistent approach to secure software development.</a:t>
            </a:r>
          </a:p>
          <a:p>
            <a:pPr marL="0" lvl="0" indent="0" algn="l" rtl="0">
              <a:lnSpc>
                <a:spcPct val="100000"/>
              </a:lnSpc>
              <a:spcBef>
                <a:spcPts val="0"/>
              </a:spcBef>
              <a:spcAft>
                <a:spcPts val="0"/>
              </a:spcAft>
              <a:buSzPts val="1100"/>
              <a:buNone/>
            </a:pP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Pace's secure development policy includes ten coding standards designed to reduce vulnerabilities in C++ applications.</a:t>
            </a:r>
          </a:p>
          <a:p>
            <a:r>
              <a:rPr lang="en-US" sz="1100" b="0" i="0" u="none" strike="noStrike" cap="none" dirty="0">
                <a:solidFill>
                  <a:srgbClr val="000000"/>
                </a:solidFill>
                <a:effectLst/>
                <a:latin typeface="Arial"/>
                <a:ea typeface="Arial"/>
                <a:cs typeface="Arial"/>
                <a:sym typeface="Arial"/>
              </a:rPr>
              <a:t>These standards are organized by priority, with threat levels ranging from one to five based on severity, likelihood, and remediation cost.</a:t>
            </a:r>
          </a:p>
          <a:p>
            <a:r>
              <a:rPr lang="en-US" sz="1100" b="0" i="0" u="none" strike="noStrike" cap="none" dirty="0">
                <a:solidFill>
                  <a:srgbClr val="000000"/>
                </a:solidFill>
                <a:effectLst/>
                <a:latin typeface="Arial"/>
                <a:ea typeface="Arial"/>
                <a:cs typeface="Arial"/>
                <a:sym typeface="Arial"/>
              </a:rPr>
              <a:t>SQL injection is ranked highest at Level 5 because it can allow attackers to access or manipulate sensitive database information. Using parameterized queries helps prevent this vulnerability.</a:t>
            </a:r>
          </a:p>
          <a:p>
            <a:r>
              <a:rPr lang="en-US" sz="1100" b="0" i="0" u="none" strike="noStrike" cap="none" dirty="0">
                <a:solidFill>
                  <a:srgbClr val="000000"/>
                </a:solidFill>
                <a:effectLst/>
                <a:latin typeface="Arial"/>
                <a:ea typeface="Arial"/>
                <a:cs typeface="Arial"/>
                <a:sym typeface="Arial"/>
              </a:rPr>
              <a:t>String storage and input validation are ranked at Level 4 because improper handling of data can cause errors and create security risks.</a:t>
            </a:r>
          </a:p>
          <a:p>
            <a:r>
              <a:rPr lang="en-US" sz="1100" b="0" i="0" u="none" strike="noStrike" cap="none" dirty="0">
                <a:solidFill>
                  <a:srgbClr val="000000"/>
                </a:solidFill>
                <a:effectLst/>
                <a:latin typeface="Arial"/>
                <a:ea typeface="Arial"/>
                <a:cs typeface="Arial"/>
                <a:sym typeface="Arial"/>
              </a:rPr>
              <a:t>The remaining standards address issues such as integer ranges, memory safety, exception handling, and file operations.</a:t>
            </a:r>
          </a:p>
          <a:p>
            <a:r>
              <a:rPr lang="en-US" sz="1100" b="0" i="0" u="none" strike="noStrike" cap="none" dirty="0">
                <a:solidFill>
                  <a:srgbClr val="000000"/>
                </a:solidFill>
                <a:effectLst/>
                <a:latin typeface="Arial"/>
                <a:ea typeface="Arial"/>
                <a:cs typeface="Arial"/>
                <a:sym typeface="Arial"/>
              </a:rPr>
              <a:t>By following these standards, developers can identify potential security problems earlier and build more reliable applications.</a:t>
            </a:r>
          </a:p>
          <a:p>
            <a:r>
              <a:rPr lang="en-US" sz="1100" b="0" i="0" u="none" strike="noStrike" cap="none" dirty="0">
                <a:solidFill>
                  <a:srgbClr val="000000"/>
                </a:solidFill>
                <a:effectLst/>
                <a:latin typeface="Arial"/>
                <a:ea typeface="Arial"/>
                <a:cs typeface="Arial"/>
                <a:sym typeface="Arial"/>
              </a:rPr>
              <a:t> </a:t>
            </a:r>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uses encryption to protect sensitive information while it is stored, transferred, and processed.</a:t>
            </a:r>
          </a:p>
          <a:p>
            <a:r>
              <a:rPr lang="en-US" sz="1100" b="0" i="0" u="none" strike="noStrike" cap="none" dirty="0">
                <a:solidFill>
                  <a:srgbClr val="000000"/>
                </a:solidFill>
                <a:effectLst/>
                <a:latin typeface="Arial"/>
                <a:ea typeface="Arial"/>
                <a:cs typeface="Arial"/>
                <a:sym typeface="Arial"/>
              </a:rPr>
              <a:t>For data at rest, AES-256 helps protect stored databases and customer information. For example, if someone gains unauthorized access to stored files, encryption helps prevent them from reading the information without the proper key.</a:t>
            </a:r>
          </a:p>
          <a:p>
            <a:r>
              <a:rPr lang="en-US" sz="1100" b="0" i="0" u="none" strike="noStrike" cap="none" dirty="0">
                <a:solidFill>
                  <a:srgbClr val="000000"/>
                </a:solidFill>
                <a:effectLst/>
                <a:latin typeface="Arial"/>
                <a:ea typeface="Arial"/>
                <a:cs typeface="Arial"/>
                <a:sym typeface="Arial"/>
              </a:rPr>
              <a:t>For data in transit, TLS 1.3 protects information traveling between users, applications, and servers.</a:t>
            </a:r>
          </a:p>
          <a:p>
            <a:r>
              <a:rPr lang="en-US" sz="1100" b="0" i="0" u="none" strike="noStrike" cap="none" dirty="0">
                <a:solidFill>
                  <a:srgbClr val="000000"/>
                </a:solidFill>
                <a:effectLst/>
                <a:latin typeface="Arial"/>
                <a:ea typeface="Arial"/>
                <a:cs typeface="Arial"/>
                <a:sym typeface="Arial"/>
              </a:rPr>
              <a:t>For data in use, secure memory handling helps reduce the risk of exposing sensitive information while an application processes it.</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Finally, proper key management and certificate validation are necessary to keep these protections effective. Together, these strategies help Green Pace protect sensitive information throughout its lifecycle.</a:t>
            </a:r>
          </a:p>
          <a:p>
            <a:endParaRPr lang="en-US"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uses the Triple-A framework to help protect its systems from unauthorized access.</a:t>
            </a:r>
          </a:p>
          <a:p>
            <a:r>
              <a:rPr lang="en-US" sz="1100" b="0" i="0" u="none" strike="noStrike" cap="none" dirty="0">
                <a:solidFill>
                  <a:srgbClr val="000000"/>
                </a:solidFill>
                <a:effectLst/>
                <a:latin typeface="Arial"/>
                <a:ea typeface="Arial"/>
                <a:cs typeface="Arial"/>
                <a:sym typeface="Arial"/>
              </a:rPr>
              <a:t>Authentication verifies a user's identity. For example, employees may be required to enter a password and complete multi-factor authentication before accessing company systems.</a:t>
            </a:r>
          </a:p>
          <a:p>
            <a:r>
              <a:rPr lang="en-US" sz="1100" b="0" i="0" u="none" strike="noStrike" cap="none" dirty="0">
                <a:solidFill>
                  <a:srgbClr val="000000"/>
                </a:solidFill>
                <a:effectLst/>
                <a:latin typeface="Arial"/>
                <a:ea typeface="Arial"/>
                <a:cs typeface="Arial"/>
                <a:sym typeface="Arial"/>
              </a:rPr>
              <a:t>Authorization determines what users are allowed to access. For example, developers should only have access to the files and systems necessary for their responsibilities.</a:t>
            </a:r>
          </a:p>
          <a:p>
            <a:r>
              <a:rPr lang="en-US" sz="1100" b="0" i="0" u="none" strike="noStrike" cap="none" dirty="0">
                <a:solidFill>
                  <a:srgbClr val="000000"/>
                </a:solidFill>
                <a:effectLst/>
                <a:latin typeface="Arial"/>
                <a:ea typeface="Arial"/>
                <a:cs typeface="Arial"/>
                <a:sym typeface="Arial"/>
              </a:rPr>
              <a:t>Accounting records user activity through audit logs. These logs can help Green Pace identify suspicious behavior and investigate potential security incidents.</a:t>
            </a:r>
          </a:p>
          <a:p>
            <a:r>
              <a:rPr lang="en-US" sz="1100" b="0" i="0" u="none" strike="noStrike" cap="none" dirty="0">
                <a:solidFill>
                  <a:srgbClr val="000000"/>
                </a:solidFill>
                <a:effectLst/>
                <a:latin typeface="Arial"/>
                <a:ea typeface="Arial"/>
                <a:cs typeface="Arial"/>
                <a:sym typeface="Arial"/>
              </a:rPr>
              <a:t>Together, these policies strengthen access controls, protect sensitive information, and support accountability.</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For my automated testing demonstration, I used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in Visual Studio to test input validation in a C++ program.</a:t>
            </a:r>
          </a:p>
          <a:p>
            <a:r>
              <a:rPr lang="en-US" sz="1100" b="0" i="0" u="none" strike="noStrike" cap="none" dirty="0">
                <a:solidFill>
                  <a:srgbClr val="000000"/>
                </a:solidFill>
                <a:effectLst/>
                <a:latin typeface="Arial"/>
                <a:ea typeface="Arial"/>
                <a:cs typeface="Arial"/>
                <a:sym typeface="Arial"/>
              </a:rPr>
              <a:t>The function accepts numbers between one and one hundred and rejects values outside that range.</a:t>
            </a:r>
          </a:p>
          <a:p>
            <a:r>
              <a:rPr lang="en-US" sz="1100" b="0" i="0" u="none" strike="noStrike" cap="none" dirty="0">
                <a:solidFill>
                  <a:srgbClr val="000000"/>
                </a:solidFill>
                <a:effectLst/>
                <a:latin typeface="Arial"/>
                <a:ea typeface="Arial"/>
                <a:cs typeface="Arial"/>
                <a:sym typeface="Arial"/>
              </a:rPr>
              <a:t>I created four tests to check valid input, invalid input, and the minimum and maximum boundaries. All four tests passed successfully.</a:t>
            </a:r>
          </a:p>
          <a:p>
            <a:r>
              <a:rPr lang="en-US" sz="1100" b="0" i="0" u="none" strike="noStrike" cap="none" dirty="0">
                <a:solidFill>
                  <a:srgbClr val="000000"/>
                </a:solidFill>
                <a:effectLst/>
                <a:latin typeface="Arial"/>
                <a:ea typeface="Arial"/>
                <a:cs typeface="Arial"/>
                <a:sym typeface="Arial"/>
              </a:rPr>
              <a:t>Automated unit testing helps developers identify coding errors earlier and verify that security controls behave as expected.</a:t>
            </a:r>
          </a:p>
          <a:p>
            <a:r>
              <a:rPr lang="en-US" sz="1100" b="0" i="0" u="none" strike="noStrike" cap="none" dirty="0">
                <a:solidFill>
                  <a:srgbClr val="000000"/>
                </a:solidFill>
                <a:effectLst/>
                <a:latin typeface="Arial"/>
                <a:ea typeface="Arial"/>
                <a:cs typeface="Arial"/>
                <a:sym typeface="Arial"/>
              </a:rPr>
              <a:t>To expand this testing, I would add values just outside the boundaries, such as zero and one hundred and one, to confirm that both are rejected.</a:t>
            </a:r>
          </a:p>
          <a:p>
            <a:r>
              <a:rPr lang="en-US" sz="1100" b="0" i="0" u="none" strike="noStrike" cap="none" dirty="0">
                <a:solidFill>
                  <a:srgbClr val="000000"/>
                </a:solidFill>
                <a:effectLst/>
                <a:latin typeface="Arial"/>
                <a:ea typeface="Arial"/>
                <a:cs typeface="Arial"/>
                <a:sym typeface="Arial"/>
              </a:rPr>
              <a:t> </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first unit test checks whether the program correctly accepts a valid input.</a:t>
            </a:r>
          </a:p>
          <a:p>
            <a:r>
              <a:rPr lang="en-US" sz="1100" b="0" i="0" u="none" strike="noStrike" cap="none" dirty="0">
                <a:solidFill>
                  <a:srgbClr val="000000"/>
                </a:solidFill>
                <a:effectLst/>
                <a:latin typeface="Arial"/>
                <a:ea typeface="Arial"/>
                <a:cs typeface="Arial"/>
                <a:sym typeface="Arial"/>
              </a:rPr>
              <a:t>For this test, I entered the number 25, which falls within the accepted range of one to one hundred.</a:t>
            </a:r>
          </a:p>
          <a:p>
            <a:r>
              <a:rPr lang="en-US" sz="1100" b="0" i="0" u="none" strike="noStrike" cap="none" dirty="0">
                <a:solidFill>
                  <a:srgbClr val="000000"/>
                </a:solidFill>
                <a:effectLst/>
                <a:latin typeface="Arial"/>
                <a:ea typeface="Arial"/>
                <a:cs typeface="Arial"/>
                <a:sym typeface="Arial"/>
              </a:rPr>
              <a:t>Using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I verified that the input validation function returned true, meaning the input was accepted.</a:t>
            </a:r>
          </a:p>
          <a:p>
            <a:r>
              <a:rPr lang="en-US" sz="1100" b="0" i="0" u="none" strike="noStrike" cap="none" dirty="0">
                <a:solidFill>
                  <a:srgbClr val="000000"/>
                </a:solidFill>
                <a:effectLst/>
                <a:latin typeface="Arial"/>
                <a:ea typeface="Arial"/>
                <a:cs typeface="Arial"/>
                <a:sym typeface="Arial"/>
              </a:rPr>
              <a:t>As shown in the screenshot, the test passed successfully. This confirms that the function correctly handles this valid input.</a:t>
            </a:r>
          </a:p>
          <a:p>
            <a:endParaRPr lang="en-US" dirty="0"/>
          </a:p>
        </p:txBody>
      </p:sp>
    </p:spTree>
    <p:extLst>
      <p:ext uri="{BB962C8B-B14F-4D97-AF65-F5344CB8AC3E}">
        <p14:creationId xmlns:p14="http://schemas.microsoft.com/office/powerpoint/2010/main" val="1710229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second unit test checks whether the program correctly rejects invalid input.</a:t>
            </a:r>
          </a:p>
          <a:p>
            <a:r>
              <a:rPr lang="en-US" sz="1100" b="0" i="0" u="none" strike="noStrike" cap="none" dirty="0">
                <a:solidFill>
                  <a:srgbClr val="000000"/>
                </a:solidFill>
                <a:effectLst/>
                <a:latin typeface="Arial"/>
                <a:ea typeface="Arial"/>
                <a:cs typeface="Arial"/>
                <a:sym typeface="Arial"/>
              </a:rPr>
              <a:t>For this test, I entered negative five, which falls outside the accepted range of one to one hundred.</a:t>
            </a:r>
          </a:p>
          <a:p>
            <a:r>
              <a:rPr lang="en-US" sz="1100" b="0" i="0" u="none" strike="noStrike" cap="none" dirty="0">
                <a:solidFill>
                  <a:srgbClr val="000000"/>
                </a:solidFill>
                <a:effectLst/>
                <a:latin typeface="Arial"/>
                <a:ea typeface="Arial"/>
                <a:cs typeface="Arial"/>
                <a:sym typeface="Arial"/>
              </a:rPr>
              <a:t>Using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I verified that the input validation function returned false, meaning the input was rejected.</a:t>
            </a:r>
          </a:p>
          <a:p>
            <a:r>
              <a:rPr lang="en-US" sz="1100" b="0" i="0" u="none" strike="noStrike" cap="none" dirty="0">
                <a:solidFill>
                  <a:srgbClr val="000000"/>
                </a:solidFill>
                <a:effectLst/>
                <a:latin typeface="Arial"/>
                <a:ea typeface="Arial"/>
                <a:cs typeface="Arial"/>
                <a:sym typeface="Arial"/>
              </a:rPr>
              <a:t>As shown in the screenshot, the test passed successfully. This demonstrates that the function correctly handles this invalid input.</a:t>
            </a:r>
          </a:p>
          <a:p>
            <a:r>
              <a:rPr lang="en-US" sz="1100" b="0" i="0" u="none" strike="noStrike" cap="none" dirty="0">
                <a:solidFill>
                  <a:srgbClr val="000000"/>
                </a:solidFill>
                <a:effectLst/>
                <a:latin typeface="Arial"/>
                <a:ea typeface="Arial"/>
                <a:cs typeface="Arial"/>
                <a:sym typeface="Arial"/>
              </a:rPr>
              <a:t> </a:t>
            </a:r>
          </a:p>
          <a:p>
            <a:endParaRPr lang="en-US" dirty="0"/>
          </a:p>
        </p:txBody>
      </p:sp>
    </p:spTree>
    <p:extLst>
      <p:ext uri="{BB962C8B-B14F-4D97-AF65-F5344CB8AC3E}">
        <p14:creationId xmlns:p14="http://schemas.microsoft.com/office/powerpoint/2010/main" val="3012011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third unit test checks the minimum boundary of the accepted input range.</a:t>
            </a:r>
          </a:p>
          <a:p>
            <a:r>
              <a:rPr lang="en-US" sz="1100" b="0" i="0" u="none" strike="noStrike" cap="none" dirty="0">
                <a:solidFill>
                  <a:srgbClr val="000000"/>
                </a:solidFill>
                <a:effectLst/>
                <a:latin typeface="Arial"/>
                <a:ea typeface="Arial"/>
                <a:cs typeface="Arial"/>
                <a:sym typeface="Arial"/>
              </a:rPr>
              <a:t>For this test, I entered the number one, which is the lowest valid input the program allows.</a:t>
            </a:r>
          </a:p>
          <a:p>
            <a:r>
              <a:rPr lang="en-US" sz="1100" b="0" i="0" u="none" strike="noStrike" cap="none" dirty="0">
                <a:solidFill>
                  <a:srgbClr val="000000"/>
                </a:solidFill>
                <a:effectLst/>
                <a:latin typeface="Arial"/>
                <a:ea typeface="Arial"/>
                <a:cs typeface="Arial"/>
                <a:sym typeface="Arial"/>
              </a:rPr>
              <a:t>Using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I verified that the input validation function returned true, meaning the value was accepted.</a:t>
            </a:r>
          </a:p>
          <a:p>
            <a:r>
              <a:rPr lang="en-US" sz="1100" b="0" i="0" u="none" strike="noStrike" cap="none" dirty="0">
                <a:solidFill>
                  <a:srgbClr val="000000"/>
                </a:solidFill>
                <a:effectLst/>
                <a:latin typeface="Arial"/>
                <a:ea typeface="Arial"/>
                <a:cs typeface="Arial"/>
                <a:sym typeface="Arial"/>
              </a:rPr>
              <a:t>As shown in the screenshot, the test passed successfully. This confirms that the function correctly accepts the minimum allowed value.</a:t>
            </a:r>
          </a:p>
          <a:p>
            <a:r>
              <a:rPr lang="en-US" sz="1100" b="0" i="0" u="none" strike="noStrike" cap="none" dirty="0">
                <a:solidFill>
                  <a:srgbClr val="000000"/>
                </a:solidFill>
                <a:effectLst/>
                <a:latin typeface="Arial"/>
                <a:ea typeface="Arial"/>
                <a:cs typeface="Arial"/>
                <a:sym typeface="Arial"/>
              </a:rPr>
              <a:t> </a:t>
            </a:r>
          </a:p>
          <a:p>
            <a:endParaRPr lang="en-US" dirty="0"/>
          </a:p>
        </p:txBody>
      </p:sp>
    </p:spTree>
    <p:extLst>
      <p:ext uri="{BB962C8B-B14F-4D97-AF65-F5344CB8AC3E}">
        <p14:creationId xmlns:p14="http://schemas.microsoft.com/office/powerpoint/2010/main" val="1925471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fourth unit test checks the maximum boundary of the accepted input range.</a:t>
            </a:r>
          </a:p>
          <a:p>
            <a:r>
              <a:rPr lang="en-US" sz="1100" b="0" i="0" u="none" strike="noStrike" cap="none" dirty="0">
                <a:solidFill>
                  <a:srgbClr val="000000"/>
                </a:solidFill>
                <a:effectLst/>
                <a:latin typeface="Arial"/>
                <a:ea typeface="Arial"/>
                <a:cs typeface="Arial"/>
                <a:sym typeface="Arial"/>
              </a:rPr>
              <a:t>For this test, I entered the number one hundred, which is the highest valid input the program allows.</a:t>
            </a:r>
          </a:p>
          <a:p>
            <a:r>
              <a:rPr lang="en-US" sz="1100" b="0" i="0" u="none" strike="noStrike" cap="none" dirty="0">
                <a:solidFill>
                  <a:srgbClr val="000000"/>
                </a:solidFill>
                <a:effectLst/>
                <a:latin typeface="Arial"/>
                <a:ea typeface="Arial"/>
                <a:cs typeface="Arial"/>
                <a:sym typeface="Arial"/>
              </a:rPr>
              <a:t>Using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I verified that the input validation function returned true, meaning the value was accepted.</a:t>
            </a:r>
          </a:p>
          <a:p>
            <a:r>
              <a:rPr lang="en-US" sz="1100" b="0" i="0" u="none" strike="noStrike" cap="none" dirty="0">
                <a:solidFill>
                  <a:srgbClr val="000000"/>
                </a:solidFill>
                <a:effectLst/>
                <a:latin typeface="Arial"/>
                <a:ea typeface="Arial"/>
                <a:cs typeface="Arial"/>
                <a:sym typeface="Arial"/>
              </a:rPr>
              <a:t>As shown in the screenshot, the test passed successfully. This confirms that the function correctly accepts the maximum allowed value.</a:t>
            </a:r>
          </a:p>
          <a:p>
            <a:r>
              <a:rPr lang="en-US" sz="1100" b="0" i="0" u="none" strike="noStrike" cap="none" dirty="0">
                <a:solidFill>
                  <a:srgbClr val="000000"/>
                </a:solidFill>
                <a:effectLst/>
                <a:latin typeface="Arial"/>
                <a:ea typeface="Arial"/>
                <a:cs typeface="Arial"/>
                <a:sym typeface="Arial"/>
              </a:rPr>
              <a:t>Overall, all four unit tests passed with zero failures.</a:t>
            </a:r>
            <a:endParaRPr lang="en-US" dirty="0"/>
          </a:p>
        </p:txBody>
      </p:sp>
    </p:spTree>
    <p:extLst>
      <p:ext uri="{BB962C8B-B14F-4D97-AF65-F5344CB8AC3E}">
        <p14:creationId xmlns:p14="http://schemas.microsoft.com/office/powerpoint/2010/main" val="746427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Automation helps Green Pace incorporate security throughout the software development process instead of waiting until the end to identify problems.</a:t>
            </a:r>
          </a:p>
          <a:p>
            <a:r>
              <a:rPr lang="en-US" sz="1100" b="0" i="0" u="none" strike="noStrike" cap="none" dirty="0">
                <a:solidFill>
                  <a:srgbClr val="000000"/>
                </a:solidFill>
                <a:effectLst/>
                <a:latin typeface="Arial"/>
                <a:ea typeface="Arial"/>
                <a:cs typeface="Arial"/>
                <a:sym typeface="Arial"/>
              </a:rPr>
              <a:t>During planning, developers identify security requirements and potential risks. During coding, automated tools can check for unsafe programming practices.</a:t>
            </a:r>
          </a:p>
          <a:p>
            <a:r>
              <a:rPr lang="en-US" sz="1100" b="0" i="0" u="none" strike="noStrike" cap="none" dirty="0">
                <a:solidFill>
                  <a:srgbClr val="000000"/>
                </a:solidFill>
                <a:effectLst/>
                <a:latin typeface="Arial"/>
                <a:ea typeface="Arial"/>
                <a:cs typeface="Arial"/>
                <a:sym typeface="Arial"/>
              </a:rPr>
              <a:t>During building and testing, tools such as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and static code analyzers help identify errors and vulnerabilities.</a:t>
            </a:r>
          </a:p>
          <a:p>
            <a:r>
              <a:rPr lang="en-US" sz="1100" b="0" i="0" u="none" strike="noStrike" cap="none" dirty="0">
                <a:solidFill>
                  <a:srgbClr val="000000"/>
                </a:solidFill>
                <a:effectLst/>
                <a:latin typeface="Arial"/>
                <a:ea typeface="Arial"/>
                <a:cs typeface="Arial"/>
                <a:sym typeface="Arial"/>
              </a:rPr>
              <a:t>Finally, during deployment and monitoring, security checks continue to help protect applications after release.</a:t>
            </a:r>
          </a:p>
          <a:p>
            <a:r>
              <a:rPr lang="en-US" sz="1100" b="0" i="0" u="none" strike="noStrike" cap="none" dirty="0">
                <a:solidFill>
                  <a:srgbClr val="000000"/>
                </a:solidFill>
                <a:effectLst/>
                <a:latin typeface="Arial"/>
                <a:ea typeface="Arial"/>
                <a:cs typeface="Arial"/>
                <a:sym typeface="Arial"/>
              </a:rPr>
              <a:t>This approach supports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by making security a continuous responsibility throughout development.</a:t>
            </a:r>
          </a:p>
          <a:p>
            <a:pPr marL="0" lvl="0" indent="0" algn="l" rtl="0">
              <a:lnSpc>
                <a:spcPct val="100000"/>
              </a:lnSpc>
              <a:spcBef>
                <a:spcPts val="0"/>
              </a:spcBef>
              <a:spcAft>
                <a:spcPts val="0"/>
              </a:spcAft>
              <a:buSzPts val="1100"/>
              <a:buNone/>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can use automated security tools throughout the software development process.</a:t>
            </a:r>
          </a:p>
          <a:p>
            <a:r>
              <a:rPr lang="en-US" sz="1100" b="0" i="0" u="none" strike="noStrike" cap="none" dirty="0">
                <a:solidFill>
                  <a:srgbClr val="000000"/>
                </a:solidFill>
                <a:effectLst/>
                <a:latin typeface="Arial"/>
                <a:ea typeface="Arial"/>
                <a:cs typeface="Arial"/>
                <a:sym typeface="Arial"/>
              </a:rPr>
              <a:t>During planning and coding, developers review security requirements and follow established coding standards.</a:t>
            </a:r>
          </a:p>
          <a:p>
            <a:r>
              <a:rPr lang="en-US" sz="1100" b="0" i="0" u="none" strike="noStrike" cap="none" dirty="0">
                <a:solidFill>
                  <a:srgbClr val="000000"/>
                </a:solidFill>
                <a:effectLst/>
                <a:latin typeface="Arial"/>
                <a:ea typeface="Arial"/>
                <a:cs typeface="Arial"/>
                <a:sym typeface="Arial"/>
              </a:rPr>
              <a:t>During the build stage, GCC compiles the code, while Clang-Tidy and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help identify unsafe coding practices through static analysis.</a:t>
            </a:r>
          </a:p>
          <a:p>
            <a:r>
              <a:rPr lang="en-US" sz="1100" b="0" i="0" u="none" strike="noStrike" cap="none" dirty="0">
                <a:solidFill>
                  <a:srgbClr val="000000"/>
                </a:solidFill>
                <a:effectLst/>
                <a:latin typeface="Arial"/>
                <a:ea typeface="Arial"/>
                <a:cs typeface="Arial"/>
                <a:sym typeface="Arial"/>
              </a:rPr>
              <a:t>During testing, </a:t>
            </a:r>
            <a:r>
              <a:rPr lang="en-US" sz="1100" b="0" i="0" u="none" strike="noStrike" cap="none" dirty="0" err="1">
                <a:solidFill>
                  <a:srgbClr val="000000"/>
                </a:solidFill>
                <a:effectLst/>
                <a:latin typeface="Arial"/>
                <a:ea typeface="Arial"/>
                <a:cs typeface="Arial"/>
                <a:sym typeface="Arial"/>
              </a:rPr>
              <a:t>GoogleTest</a:t>
            </a:r>
            <a:r>
              <a:rPr lang="en-US" sz="1100" b="0" i="0" u="none" strike="noStrike" cap="none" dirty="0">
                <a:solidFill>
                  <a:srgbClr val="000000"/>
                </a:solidFill>
                <a:effectLst/>
                <a:latin typeface="Arial"/>
                <a:ea typeface="Arial"/>
                <a:cs typeface="Arial"/>
                <a:sym typeface="Arial"/>
              </a:rPr>
              <a:t> verifies that individual functions behave as expected, while sanitizers can detect memory-related errors.</a:t>
            </a:r>
          </a:p>
          <a:p>
            <a:r>
              <a:rPr lang="en-US" sz="1100" b="0" i="0" u="none" strike="noStrike" cap="none" dirty="0">
                <a:solidFill>
                  <a:srgbClr val="000000"/>
                </a:solidFill>
                <a:effectLst/>
                <a:latin typeface="Arial"/>
                <a:ea typeface="Arial"/>
                <a:cs typeface="Arial"/>
                <a:sym typeface="Arial"/>
              </a:rPr>
              <a:t>Finally, automated security checks, audit logs, and alerts support deployment and ongoing monitoring.</a:t>
            </a:r>
          </a:p>
          <a:p>
            <a:r>
              <a:rPr lang="en-US" sz="1100" b="0" i="0" u="none" strike="noStrike" cap="none" dirty="0">
                <a:solidFill>
                  <a:srgbClr val="000000"/>
                </a:solidFill>
                <a:effectLst/>
                <a:latin typeface="Arial"/>
                <a:ea typeface="Arial"/>
                <a:cs typeface="Arial"/>
                <a:sym typeface="Arial"/>
              </a:rPr>
              <a:t>Using these tools at different stages helps Green Pace identify potential vulnerabilities earlier and maintain security after software is released.</a:t>
            </a:r>
          </a:p>
          <a:p>
            <a:r>
              <a:rPr lang="en-US" sz="1100" b="0" i="0" u="none" strike="noStrike" cap="none" dirty="0">
                <a:solidFill>
                  <a:srgbClr val="000000"/>
                </a:solidFill>
                <a:effectLst/>
                <a:latin typeface="Arial"/>
                <a:ea typeface="Arial"/>
                <a:cs typeface="Arial"/>
                <a:sym typeface="Arial"/>
              </a:rPr>
              <a:t> </a:t>
            </a:r>
          </a:p>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Green Pace must consider both the risks and benefits of implementing stronger security practices.</a:t>
            </a:r>
          </a:p>
          <a:p>
            <a:r>
              <a:rPr lang="en-US" sz="1100" b="0" i="0" u="none" strike="noStrike" cap="none" dirty="0">
                <a:solidFill>
                  <a:srgbClr val="000000"/>
                </a:solidFill>
                <a:effectLst/>
                <a:latin typeface="Arial"/>
                <a:ea typeface="Arial"/>
                <a:cs typeface="Arial"/>
                <a:sym typeface="Arial"/>
              </a:rPr>
              <a:t>The biggest concern is that coding vulnerabilities could expose sensitive information or disrupt business operations.</a:t>
            </a:r>
          </a:p>
          <a:p>
            <a:r>
              <a:rPr lang="en-US" sz="1100" b="0" i="0" u="none" strike="noStrike" cap="none" dirty="0">
                <a:solidFill>
                  <a:srgbClr val="000000"/>
                </a:solidFill>
                <a:effectLst/>
                <a:latin typeface="Arial"/>
                <a:ea typeface="Arial"/>
                <a:cs typeface="Arial"/>
                <a:sym typeface="Arial"/>
              </a:rPr>
              <a:t>I recommend addressing SQL injection first because it has the highest threat level in the security policy. Using parameterized queries and automated security checks can help reduce this risk.</a:t>
            </a:r>
          </a:p>
          <a:p>
            <a:r>
              <a:rPr lang="en-US" sz="1100" b="0" i="0" u="none" strike="noStrike" cap="none" dirty="0">
                <a:solidFill>
                  <a:srgbClr val="000000"/>
                </a:solidFill>
                <a:effectLst/>
                <a:latin typeface="Arial"/>
                <a:ea typeface="Arial"/>
                <a:cs typeface="Arial"/>
                <a:sym typeface="Arial"/>
              </a:rPr>
              <a:t>Although implementing these protections requires time, training, and resources, identifying vulnerabilities early can lower remediation costs.</a:t>
            </a:r>
          </a:p>
          <a:p>
            <a:r>
              <a:rPr lang="en-US" sz="1100" b="0" i="0" u="none" strike="noStrike" cap="none" dirty="0">
                <a:solidFill>
                  <a:srgbClr val="000000"/>
                </a:solidFill>
                <a:effectLst/>
                <a:latin typeface="Arial"/>
                <a:ea typeface="Arial"/>
                <a:cs typeface="Arial"/>
                <a:sym typeface="Arial"/>
              </a:rPr>
              <a:t>If Green Pace delays these improvements, vulnerabilities may remain undetected until they cause more serious problems.</a:t>
            </a:r>
          </a:p>
          <a:p>
            <a:r>
              <a:rPr lang="en-US" sz="1100" b="0" i="0" u="none" strike="noStrike" cap="none" dirty="0">
                <a:solidFill>
                  <a:srgbClr val="000000"/>
                </a:solidFill>
                <a:effectLst/>
                <a:latin typeface="Arial"/>
                <a:ea typeface="Arial"/>
                <a:cs typeface="Arial"/>
                <a:sym typeface="Arial"/>
              </a:rPr>
              <a:t>Overall, the benefits of early detection, stronger security, and reduced long-term costs outweigh the initial challenges.</a:t>
            </a:r>
          </a:p>
          <a:p>
            <a:r>
              <a:rPr lang="en-US" sz="1100" b="0" i="0" u="none" strike="noStrike" cap="none" dirty="0">
                <a:solidFill>
                  <a:srgbClr val="000000"/>
                </a:solidFill>
                <a:effectLst/>
                <a:latin typeface="Arial"/>
                <a:ea typeface="Arial"/>
                <a:cs typeface="Arial"/>
                <a:sym typeface="Arial"/>
              </a:rPr>
              <a:t> </a:t>
            </a:r>
          </a:p>
          <a:p>
            <a:pPr marL="0" lvl="0" indent="0" algn="l" rtl="0">
              <a:lnSpc>
                <a:spcPct val="100000"/>
              </a:lnSpc>
              <a:spcBef>
                <a:spcPts val="0"/>
              </a:spcBef>
              <a:spcAft>
                <a:spcPts val="0"/>
              </a:spcAft>
              <a:buSzPts val="1100"/>
              <a:buNone/>
            </a:pP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Moving forward, I recommend that Green Pace focus on making its security policies consistent and enforceable throughout development.</a:t>
            </a:r>
          </a:p>
          <a:p>
            <a:r>
              <a:rPr lang="en-US" sz="1100" b="0" i="0" u="none" strike="noStrike" cap="none" dirty="0">
                <a:solidFill>
                  <a:srgbClr val="000000"/>
                </a:solidFill>
                <a:effectLst/>
                <a:latin typeface="Arial"/>
                <a:ea typeface="Arial"/>
                <a:cs typeface="Arial"/>
                <a:sym typeface="Arial"/>
              </a:rPr>
              <a:t>One potential gap is that having written coding standards does not guarantee developers will follow them. Requiring code reviews and automated security scans can help address this issue.</a:t>
            </a:r>
          </a:p>
          <a:p>
            <a:r>
              <a:rPr lang="en-US" sz="1100" b="0" i="0" u="none" strike="noStrike" cap="none" dirty="0">
                <a:solidFill>
                  <a:srgbClr val="000000"/>
                </a:solidFill>
                <a:effectLst/>
                <a:latin typeface="Arial"/>
                <a:ea typeface="Arial"/>
                <a:cs typeface="Arial"/>
                <a:sym typeface="Arial"/>
              </a:rPr>
              <a:t>Another area for improvement is integrating automated testing into the continuous integration and deployment pipeline. This would allow security checks to run regularly as code changes are made.</a:t>
            </a:r>
          </a:p>
          <a:p>
            <a:r>
              <a:rPr lang="en-US" sz="1100" b="0" i="0" u="none" strike="noStrike" cap="none" dirty="0">
                <a:solidFill>
                  <a:srgbClr val="000000"/>
                </a:solidFill>
                <a:effectLst/>
                <a:latin typeface="Arial"/>
                <a:ea typeface="Arial"/>
                <a:cs typeface="Arial"/>
                <a:sym typeface="Arial"/>
              </a:rPr>
              <a:t>I also recommend ongoing developer training and regular policy reviews to address emerging threats.</a:t>
            </a:r>
          </a:p>
          <a:p>
            <a:r>
              <a:rPr lang="en-US" sz="1100" b="0" i="0" u="none" strike="noStrike" cap="none" dirty="0">
                <a:solidFill>
                  <a:srgbClr val="000000"/>
                </a:solidFill>
                <a:effectLst/>
                <a:latin typeface="Arial"/>
                <a:ea typeface="Arial"/>
                <a:cs typeface="Arial"/>
                <a:sym typeface="Arial"/>
              </a:rPr>
              <a:t>These improvements support the NIST Secure Software Development Framework, which recommends integrating security practices throughout the software development lifecycle.</a:t>
            </a:r>
          </a:p>
          <a:p>
            <a:pPr marL="0" lvl="0" indent="0" algn="l" rtl="0">
              <a:lnSpc>
                <a:spcPct val="100000"/>
              </a:lnSpc>
              <a:spcBef>
                <a:spcPts val="0"/>
              </a:spcBef>
              <a:spcAft>
                <a:spcPts val="0"/>
              </a:spcAft>
              <a:buSzPts val="1100"/>
              <a:buNone/>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1" i="0" u="none" strike="noStrike" cap="none" dirty="0">
                <a:solidFill>
                  <a:srgbClr val="000000"/>
                </a:solidFill>
                <a:effectLst/>
                <a:latin typeface="Arial"/>
                <a:ea typeface="Arial"/>
                <a:cs typeface="Arial"/>
                <a:sym typeface="Arial"/>
              </a:rPr>
              <a:t>I</a:t>
            </a:r>
            <a:r>
              <a:rPr lang="en-US" sz="1100" b="0" i="0" u="none" strike="noStrike" cap="none" dirty="0">
                <a:solidFill>
                  <a:srgbClr val="000000"/>
                </a:solidFill>
                <a:effectLst/>
                <a:latin typeface="Arial"/>
                <a:ea typeface="Arial"/>
                <a:cs typeface="Arial"/>
                <a:sym typeface="Arial"/>
              </a:rPr>
              <a:t>n conclusion, Green Pace should adopt SEI CERT C++ coding standards and make security a continuous part of software development.</a:t>
            </a:r>
          </a:p>
          <a:p>
            <a:r>
              <a:rPr lang="en-US" sz="1100" b="0" i="0" u="none" strike="noStrike" cap="none" dirty="0">
                <a:solidFill>
                  <a:srgbClr val="000000"/>
                </a:solidFill>
                <a:effectLst/>
                <a:latin typeface="Arial"/>
                <a:ea typeface="Arial"/>
                <a:cs typeface="Arial"/>
                <a:sym typeface="Arial"/>
              </a:rPr>
              <a:t>The company should prioritize high-risk vulnerabilities, enforce input validation, and integrate automated security testing to identify problems before deployment.</a:t>
            </a:r>
          </a:p>
          <a:p>
            <a:r>
              <a:rPr lang="en-US" sz="1100" b="0" i="0" u="none" strike="noStrike" cap="none" dirty="0">
                <a:solidFill>
                  <a:srgbClr val="000000"/>
                </a:solidFill>
                <a:effectLst/>
                <a:latin typeface="Arial"/>
                <a:ea typeface="Arial"/>
                <a:cs typeface="Arial"/>
                <a:sym typeface="Arial"/>
              </a:rPr>
              <a:t>Combining these practices with encryption, access controls, and defense in depth can help protect sensitive information and reduce security risks.</a:t>
            </a:r>
          </a:p>
          <a:p>
            <a:r>
              <a:rPr lang="en-US" sz="1100" b="0" i="0" u="none" strike="noStrike" cap="none" dirty="0">
                <a:solidFill>
                  <a:srgbClr val="000000"/>
                </a:solidFill>
                <a:effectLst/>
                <a:latin typeface="Arial"/>
                <a:ea typeface="Arial"/>
                <a:cs typeface="Arial"/>
                <a:sym typeface="Arial"/>
              </a:rPr>
              <a:t>Moving forward, Green Pace should regularly review its policies, expand automated testing, and provide ongoing developer training as new threats emerge.</a:t>
            </a:r>
          </a:p>
          <a:p>
            <a:r>
              <a:rPr lang="en-US" sz="1100" b="0" i="0" u="none" strike="noStrike" cap="none" dirty="0">
                <a:solidFill>
                  <a:srgbClr val="000000"/>
                </a:solidFill>
                <a:effectLst/>
                <a:latin typeface="Arial"/>
                <a:ea typeface="Arial"/>
                <a:cs typeface="Arial"/>
                <a:sym typeface="Arial"/>
              </a:rPr>
              <a:t>These recommendations align with the NIST Secure Software Development Framework and provide a foundation for maintaining secure, reliable software in the future.</a:t>
            </a:r>
          </a:p>
          <a:p>
            <a:r>
              <a:rPr lang="en-US" sz="1100" b="0" i="0" u="none" strike="noStrike" cap="none" dirty="0">
                <a:solidFill>
                  <a:srgbClr val="000000"/>
                </a:solidFill>
                <a:effectLst/>
                <a:latin typeface="Arial"/>
                <a:ea typeface="Arial"/>
                <a:cs typeface="Arial"/>
                <a:sym typeface="Arial"/>
              </a:rPr>
              <a:t> </a:t>
            </a:r>
          </a:p>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These are the references I used to support my research and recommendations throughout this presentation.</a:t>
            </a:r>
          </a:p>
          <a:p>
            <a:r>
              <a:rPr lang="en-US" sz="1100" b="0" i="0" u="none" strike="noStrike" cap="none" dirty="0">
                <a:solidFill>
                  <a:srgbClr val="000000"/>
                </a:solidFill>
                <a:effectLst/>
                <a:latin typeface="Arial"/>
                <a:ea typeface="Arial"/>
                <a:cs typeface="Arial"/>
                <a:sym typeface="Arial"/>
              </a:rPr>
              <a:t>They include resources from the Software Engineering Institute, the National Institute of Standards and Technology, and documentation for the automated testing and code analysis tools discussed.</a:t>
            </a:r>
          </a:p>
          <a:p>
            <a:r>
              <a:rPr lang="en-US" sz="1100" b="0" i="0" u="none" strike="noStrike" cap="none" dirty="0">
                <a:solidFill>
                  <a:srgbClr val="000000"/>
                </a:solidFill>
                <a:effectLst/>
                <a:latin typeface="Arial"/>
                <a:ea typeface="Arial"/>
                <a:cs typeface="Arial"/>
                <a:sym typeface="Arial"/>
              </a:rPr>
              <a:t>Thank you for taking the time to review my presentation.</a:t>
            </a:r>
          </a:p>
          <a:p>
            <a:pPr marL="0" lvl="0" indent="0" algn="l" rtl="0">
              <a:lnSpc>
                <a:spcPct val="100000"/>
              </a:lnSpc>
              <a:spcBef>
                <a:spcPts val="0"/>
              </a:spcBef>
              <a:spcAft>
                <a:spcPts val="0"/>
              </a:spcAft>
              <a:buSzPts val="1100"/>
              <a:buNone/>
            </a:pP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video" Target="../media/media1.mp4"/><Relationship Id="rId7" Type="http://schemas.openxmlformats.org/officeDocument/2006/relationships/image" Target="../media/image4.png"/><Relationship Id="rId2" Type="http://schemas.microsoft.com/office/2007/relationships/media" Target="../media/media1.mp4"/><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video" Target="../media/media2.mp4"/><Relationship Id="rId7" Type="http://schemas.openxmlformats.org/officeDocument/2006/relationships/image" Target="../media/image3.png"/><Relationship Id="rId2" Type="http://schemas.microsoft.com/office/2007/relationships/media" Target="../media/media2.mp4"/><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video" Target="../media/media3.mp4"/><Relationship Id="rId7" Type="http://schemas.openxmlformats.org/officeDocument/2006/relationships/image" Target="../media/image6.png"/><Relationship Id="rId2" Type="http://schemas.microsoft.com/office/2007/relationships/media" Target="../media/media3.mp4"/><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video" Target="../media/media4.mp4"/><Relationship Id="rId7" Type="http://schemas.openxmlformats.org/officeDocument/2006/relationships/image" Target="../media/image6.png"/><Relationship Id="rId2" Type="http://schemas.microsoft.com/office/2007/relationships/media" Target="../media/media4.mp4"/><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video" Target="../media/media5.mp4"/><Relationship Id="rId7" Type="http://schemas.openxmlformats.org/officeDocument/2006/relationships/image" Target="../media/image6.png"/><Relationship Id="rId2" Type="http://schemas.microsoft.com/office/2007/relationships/media" Target="../media/media5.mp4"/><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video" Target="../media/media6.mp4"/><Relationship Id="rId7" Type="http://schemas.openxmlformats.org/officeDocument/2006/relationships/image" Target="../media/image6.png"/><Relationship Id="rId2" Type="http://schemas.microsoft.com/office/2007/relationships/media" Target="../media/media6.mp4"/><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video" Target="../media/media7.mp4"/><Relationship Id="rId7" Type="http://schemas.openxmlformats.org/officeDocument/2006/relationships/image" Target="../media/image6.png"/><Relationship Id="rId2" Type="http://schemas.microsoft.com/office/2007/relationships/media" Target="../media/media7.mp4"/><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video" Target="../media/media8.mp4"/><Relationship Id="rId7" Type="http://schemas.openxmlformats.org/officeDocument/2006/relationships/image" Target="../media/image6.png"/><Relationship Id="rId2" Type="http://schemas.microsoft.com/office/2007/relationships/media" Target="../media/media8.mp4"/><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9.mp4"/><Relationship Id="rId1" Type="http://schemas.microsoft.com/office/2007/relationships/media" Target="../media/media9.mp4"/><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10.mp4"/><Relationship Id="rId1" Type="http://schemas.microsoft.com/office/2007/relationships/media" Target="../media/media10.mp4"/><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11.mp4"/><Relationship Id="rId1" Type="http://schemas.microsoft.com/office/2007/relationships/media" Target="../media/media11.mp4"/><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12.mp4"/><Relationship Id="rId1" Type="http://schemas.microsoft.com/office/2007/relationships/media" Target="../media/media12.mp4"/><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video" Target="../media/media13.mp4"/><Relationship Id="rId7" Type="http://schemas.openxmlformats.org/officeDocument/2006/relationships/image" Target="../media/image3.png"/><Relationship Id="rId2" Type="http://schemas.microsoft.com/office/2007/relationships/media" Target="../media/media13.mp4"/><Relationship Id="rId1" Type="http://schemas.openxmlformats.org/officeDocument/2006/relationships/tags" Target="../tags/tag10.xml"/><Relationship Id="rId6" Type="http://schemas.openxmlformats.org/officeDocument/2006/relationships/image" Target="../media/image11.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video" Target="../media/media14.mp4"/><Relationship Id="rId7" Type="http://schemas.openxmlformats.org/officeDocument/2006/relationships/image" Target="../media/image6.png"/><Relationship Id="rId2" Type="http://schemas.microsoft.com/office/2007/relationships/media" Target="../media/media14.mp4"/><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video" Target="../media/media15.mp4"/><Relationship Id="rId7" Type="http://schemas.openxmlformats.org/officeDocument/2006/relationships/image" Target="../media/image6.png"/><Relationship Id="rId2" Type="http://schemas.microsoft.com/office/2007/relationships/media" Target="../media/media15.mp4"/><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video" Target="../media/media16.mp4"/><Relationship Id="rId7" Type="http://schemas.openxmlformats.org/officeDocument/2006/relationships/image" Target="../media/image6.png"/><Relationship Id="rId2" Type="http://schemas.microsoft.com/office/2007/relationships/media" Target="../media/media16.mp4"/><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video" Target="../media/media17.mp4"/><Relationship Id="rId7" Type="http://schemas.openxmlformats.org/officeDocument/2006/relationships/image" Target="../media/image6.png"/><Relationship Id="rId2" Type="http://schemas.microsoft.com/office/2007/relationships/media" Target="../media/media17.mp4"/><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www.sei.cmu.edu/library/sei-cert-c-coding-standard-rules-for-developing-safe-reliable-and-secure-systems-2016-edition-2/" TargetMode="External"/><Relationship Id="rId3" Type="http://schemas.openxmlformats.org/officeDocument/2006/relationships/video" Target="../media/media18.mp4"/><Relationship Id="rId7" Type="http://schemas.openxmlformats.org/officeDocument/2006/relationships/hyperlink" Target="https://clang.llvm.org/extra/clang-tidy/" TargetMode="External"/><Relationship Id="rId2" Type="http://schemas.microsoft.com/office/2007/relationships/media" Target="../media/media18.mp4"/><Relationship Id="rId1" Type="http://schemas.openxmlformats.org/officeDocument/2006/relationships/tags" Target="../tags/tag15.xml"/><Relationship Id="rId6" Type="http://schemas.openxmlformats.org/officeDocument/2006/relationships/hyperlink" Target="https://google.github.io/googletest/primer.html" TargetMode="External"/><Relationship Id="rId11" Type="http://schemas.openxmlformats.org/officeDocument/2006/relationships/image" Target="../media/image4.png"/><Relationship Id="rId5" Type="http://schemas.openxmlformats.org/officeDocument/2006/relationships/notesSlide" Target="../notesSlides/notesSlide18.xml"/><Relationship Id="rId10" Type="http://schemas.openxmlformats.org/officeDocument/2006/relationships/image" Target="../media/image3.png"/><Relationship Id="rId4" Type="http://schemas.openxmlformats.org/officeDocument/2006/relationships/slideLayout" Target="../slideLayouts/slideLayout2.xml"/><Relationship Id="rId9" Type="http://schemas.openxmlformats.org/officeDocument/2006/relationships/hyperlink" Target="https://doi.org/10.6028/NIST.SP.800-21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Elizabeth Wing </a:t>
            </a:r>
            <a:endParaRPr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20" name="Video 19">
            <a:hlinkClick r:id="" action="ppaction://media"/>
            <a:extLst>
              <a:ext uri="{FF2B5EF4-FFF2-40B4-BE49-F238E27FC236}">
                <a16:creationId xmlns:a16="http://schemas.microsoft.com/office/drawing/2014/main" id="{767D8DF4-9E7A-5BBC-6409-A77D334CD163}"/>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379"/>
    </mc:Choice>
    <mc:Fallback xmlns="">
      <p:transition spd="slow" advTm="423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1796716"/>
            <a:ext cx="10820400" cy="4421969"/>
          </a:xfrm>
          <a:prstGeom prst="rect">
            <a:avLst/>
          </a:prstGeom>
          <a:noFill/>
          <a:ln>
            <a:noFill/>
          </a:ln>
        </p:spPr>
        <p:txBody>
          <a:bodyPr spcFirstLastPara="1" wrap="square" lIns="91425" tIns="45700" rIns="91425" bIns="45700" anchor="t" anchorCtr="0">
            <a:normAutofit/>
          </a:bodyPr>
          <a:lstStyle/>
          <a:p>
            <a:pPr marL="114300" indent="0">
              <a:buNone/>
            </a:pPr>
            <a:r>
              <a:rPr lang="en-US" dirty="0"/>
              <a:t>Green Pace uses layered security controls to protect applications and data, reducing risks if one defense fails.</a:t>
            </a:r>
          </a:p>
          <a:p>
            <a:pPr marL="0" lvl="0" indent="0" algn="l" rtl="0">
              <a:lnSpc>
                <a:spcPct val="90000"/>
              </a:lnSpc>
              <a:spcBef>
                <a:spcPts val="1000"/>
              </a:spcBef>
              <a:spcAft>
                <a:spcPts val="0"/>
              </a:spcAft>
              <a:buClr>
                <a:schemeClr val="lt1"/>
              </a:buClr>
              <a:buSzPts val="2200"/>
              <a:buNone/>
            </a:pPr>
            <a:endParaRPr lang="en-US" dirty="0"/>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3096474" y="2792555"/>
            <a:ext cx="6453257" cy="3797196"/>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4" name="TextBox 3">
            <a:extLst>
              <a:ext uri="{FF2B5EF4-FFF2-40B4-BE49-F238E27FC236}">
                <a16:creationId xmlns:a16="http://schemas.microsoft.com/office/drawing/2014/main" id="{720B9924-CBB1-FE85-7B27-0F350C2ED2BA}"/>
              </a:ext>
            </a:extLst>
          </p:cNvPr>
          <p:cNvSpPr txBox="1"/>
          <p:nvPr/>
        </p:nvSpPr>
        <p:spPr>
          <a:xfrm rot="10800000">
            <a:off x="1037697" y="6178271"/>
            <a:ext cx="1706880" cy="411480"/>
          </a:xfrm>
          <a:prstGeom prst="rect">
            <a:avLst/>
          </a:prstGeom>
          <a:noFill/>
        </p:spPr>
        <p:txBody>
          <a:bodyPr wrap="square" rtlCol="0">
            <a:spAutoFit/>
          </a:bodyPr>
          <a:lstStyle/>
          <a:p>
            <a:endParaRPr lang="en-US" dirty="0"/>
          </a:p>
        </p:txBody>
      </p:sp>
      <p:pic>
        <p:nvPicPr>
          <p:cNvPr id="9" name="Video 8">
            <a:hlinkClick r:id="" action="ppaction://media"/>
            <a:extLst>
              <a:ext uri="{FF2B5EF4-FFF2-40B4-BE49-F238E27FC236}">
                <a16:creationId xmlns:a16="http://schemas.microsoft.com/office/drawing/2014/main" id="{87DAFC79-C4F1-3FD4-ACD7-14F037F36A13}"/>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8"/>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7721"/>
    </mc:Choice>
    <mc:Fallback xmlns="">
      <p:transition spd="slow" advTm="477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THREATS MATRIX</a:t>
            </a:r>
            <a:endParaRPr dirty="0"/>
          </a:p>
        </p:txBody>
      </p:sp>
      <p:sp>
        <p:nvSpPr>
          <p:cNvPr id="160" name="Google Shape;160;p4"/>
          <p:cNvSpPr txBox="1">
            <a:spLocks noGrp="1"/>
          </p:cNvSpPr>
          <p:nvPr>
            <p:ph type="body" idx="1"/>
          </p:nvPr>
        </p:nvSpPr>
        <p:spPr>
          <a:xfrm>
            <a:off x="409500" y="2194390"/>
            <a:ext cx="2486100" cy="4024200"/>
          </a:xfrm>
          <a:prstGeom prst="rect">
            <a:avLst/>
          </a:prstGeom>
          <a:noFill/>
          <a:ln>
            <a:noFill/>
          </a:ln>
        </p:spPr>
        <p:txBody>
          <a:bodyPr spcFirstLastPara="1" wrap="square" lIns="91425" tIns="45700" rIns="91425" bIns="45700" anchor="t" anchorCtr="0">
            <a:normAutofit/>
          </a:bodyPr>
          <a:lstStyle/>
          <a:p>
            <a:pPr marL="114300" indent="0">
              <a:buNone/>
            </a:pPr>
            <a:r>
              <a:rPr lang="en-US" sz="2800" dirty="0"/>
              <a:t>Risks are prioritized by severity, likelihood, and remediation cost.</a:t>
            </a:r>
            <a:endParaRPr lang="en-US" sz="2000" dirty="0"/>
          </a:p>
        </p:txBody>
      </p:sp>
      <p:graphicFrame>
        <p:nvGraphicFramePr>
          <p:cNvPr id="161" name="Google Shape;161;p4" descr="Alt text required"/>
          <p:cNvGraphicFramePr/>
          <p:nvPr>
            <p:extLst>
              <p:ext uri="{D42A27DB-BD31-4B8C-83A1-F6EECF244321}">
                <p14:modId xmlns:p14="http://schemas.microsoft.com/office/powerpoint/2010/main" val="3155621789"/>
              </p:ext>
            </p:extLst>
          </p:nvPr>
        </p:nvGraphicFramePr>
        <p:xfrm>
          <a:off x="3248849" y="1874550"/>
          <a:ext cx="7835225" cy="493770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STD-008-CPP (Level 4)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 Input Validation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STD-004-CPP (Level 5)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SQL Injection</a:t>
                      </a:r>
                      <a:endParaRPr sz="20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1800" u="none" strike="noStrike" cap="none" dirty="0">
                          <a:solidFill>
                            <a:schemeClr val="accent3">
                              <a:lumMod val="75000"/>
                            </a:schemeClr>
                          </a:solidFill>
                        </a:rPr>
                        <a:t>STD-003-CPP (Level 4)        </a:t>
                      </a:r>
                    </a:p>
                    <a:p>
                      <a:pPr marL="0" marR="0" lvl="0" indent="0" algn="ctr" rtl="0">
                        <a:lnSpc>
                          <a:spcPct val="100000"/>
                        </a:lnSpc>
                        <a:spcBef>
                          <a:spcPts val="0"/>
                        </a:spcBef>
                        <a:spcAft>
                          <a:spcPts val="0"/>
                        </a:spcAft>
                        <a:buClr>
                          <a:srgbClr val="000000"/>
                        </a:buClr>
                        <a:buSzPts val="3600"/>
                        <a:buFont typeface="Arial"/>
                        <a:buNone/>
                      </a:pPr>
                      <a:r>
                        <a:rPr lang="en-US" sz="1800" u="none" strike="noStrike" cap="none" dirty="0">
                          <a:solidFill>
                            <a:schemeClr val="accent3">
                              <a:lumMod val="75000"/>
                            </a:schemeClr>
                          </a:solidFill>
                        </a:rPr>
                        <a:t>String Storage       </a:t>
                      </a:r>
                    </a:p>
                    <a:p>
                      <a:pPr marL="0" marR="0" lvl="0" indent="0" algn="ctr" rtl="0">
                        <a:lnSpc>
                          <a:spcPct val="100000"/>
                        </a:lnSpc>
                        <a:spcBef>
                          <a:spcPts val="0"/>
                        </a:spcBef>
                        <a:spcAft>
                          <a:spcPts val="0"/>
                        </a:spcAft>
                        <a:buClr>
                          <a:srgbClr val="000000"/>
                        </a:buClr>
                        <a:buSzPts val="3600"/>
                        <a:buFont typeface="Arial"/>
                        <a:buNone/>
                      </a:pPr>
                      <a:r>
                        <a:rPr lang="en-US" sz="1800" u="none" strike="noStrike" cap="none" dirty="0">
                          <a:solidFill>
                            <a:schemeClr val="accent3">
                              <a:lumMod val="75000"/>
                            </a:schemeClr>
                          </a:solidFill>
                        </a:rPr>
                        <a:t> STD-005-CPP (Level 3)        Memory Protection        </a:t>
                      </a:r>
                    </a:p>
                    <a:p>
                      <a:pPr marL="0" marR="0" lvl="0" indent="0" algn="ctr" rtl="0">
                        <a:lnSpc>
                          <a:spcPct val="100000"/>
                        </a:lnSpc>
                        <a:spcBef>
                          <a:spcPts val="0"/>
                        </a:spcBef>
                        <a:spcAft>
                          <a:spcPts val="0"/>
                        </a:spcAft>
                        <a:buClr>
                          <a:srgbClr val="000000"/>
                        </a:buClr>
                        <a:buSzPts val="3600"/>
                        <a:buFont typeface="Arial"/>
                        <a:buNone/>
                      </a:pPr>
                      <a:r>
                        <a:rPr lang="en-US" sz="1800" u="none" strike="noStrike" cap="none" dirty="0">
                          <a:solidFill>
                            <a:schemeClr val="accent3">
                              <a:lumMod val="75000"/>
                            </a:schemeClr>
                          </a:solidFill>
                        </a:rPr>
                        <a:t>STD-006-CPP (Level 3)        Assertions</a:t>
                      </a:r>
                      <a:endParaRPr sz="18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5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STD-001-CPP (Level 2)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Data Types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STD-002-CPP (Level 3)        Integer Ranges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STD-010-CPP (Level 2)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File Handling</a:t>
                      </a:r>
                      <a:endParaRPr sz="20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STD-007-CPP (Level 3)        Exception Handling        </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solidFill>
                            <a:schemeClr val="accent3">
                              <a:lumMod val="75000"/>
                            </a:schemeClr>
                          </a:solidFill>
                        </a:rPr>
                        <a:t>STD-009-CPP (Level 3)        Resource Management</a:t>
                      </a:r>
                      <a:endParaRPr sz="2000" u="none" strike="noStrike" cap="none" dirty="0">
                        <a:solidFill>
                          <a:schemeClr val="accent3">
                            <a:lumMod val="75000"/>
                          </a:schemeClr>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1" name="Video 10">
            <a:hlinkClick r:id="" action="ppaction://media"/>
            <a:extLst>
              <a:ext uri="{FF2B5EF4-FFF2-40B4-BE49-F238E27FC236}">
                <a16:creationId xmlns:a16="http://schemas.microsoft.com/office/drawing/2014/main" id="{29C1C834-AF03-8399-1278-889409EB4A20}"/>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506"/>
    </mc:Choice>
    <mc:Fallback xmlns="">
      <p:transition spd="slow" advTm="595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069502"/>
            <a:ext cx="10820400" cy="4024125"/>
          </a:xfrm>
          <a:prstGeom prst="rect">
            <a:avLst/>
          </a:prstGeom>
          <a:noFill/>
          <a:ln>
            <a:noFill/>
          </a:ln>
        </p:spPr>
        <p:txBody>
          <a:bodyPr spcFirstLastPara="1" wrap="square" lIns="91425" tIns="45700" rIns="91425" bIns="45700" anchor="t" anchorCtr="0">
            <a:normAutofit fontScale="92500" lnSpcReduction="10000"/>
          </a:bodyPr>
          <a:lstStyle/>
          <a:p>
            <a:pPr marL="571500" lvl="0" indent="-457200">
              <a:buFont typeface="+mj-lt"/>
              <a:buAutoNum type="arabicPeriod"/>
            </a:pPr>
            <a:r>
              <a:rPr lang="en-US" dirty="0"/>
              <a:t>Validate Input Data — STD-001, 002, 003, 004, 006, 007, 008</a:t>
            </a:r>
          </a:p>
          <a:p>
            <a:pPr marL="571500" lvl="0" indent="-457200">
              <a:buFont typeface="+mj-lt"/>
              <a:buAutoNum type="arabicPeriod"/>
            </a:pPr>
            <a:r>
              <a:rPr lang="en-US" dirty="0"/>
              <a:t>Heed Compiler Warnings — STD-001, 005, 006</a:t>
            </a:r>
          </a:p>
          <a:p>
            <a:pPr marL="571500" lvl="0" indent="-457200">
              <a:buFont typeface="+mj-lt"/>
              <a:buAutoNum type="arabicPeriod"/>
            </a:pPr>
            <a:r>
              <a:rPr lang="en-US" dirty="0"/>
              <a:t>Architect and Design for Security Policies — STD-008</a:t>
            </a:r>
          </a:p>
          <a:p>
            <a:pPr marL="571500" lvl="0" indent="-457200">
              <a:buFont typeface="+mj-lt"/>
              <a:buAutoNum type="arabicPeriod"/>
            </a:pPr>
            <a:r>
              <a:rPr lang="en-US" dirty="0"/>
              <a:t>Keep It Simple — STD-007, 009, 010</a:t>
            </a:r>
          </a:p>
          <a:p>
            <a:pPr marL="571500" lvl="0" indent="-457200">
              <a:buFont typeface="+mj-lt"/>
              <a:buAutoNum type="arabicPeriod"/>
            </a:pPr>
            <a:r>
              <a:rPr lang="en-US" dirty="0"/>
              <a:t>Default Deny — No direct mapping</a:t>
            </a:r>
          </a:p>
          <a:p>
            <a:pPr marL="571500" lvl="0" indent="-457200">
              <a:buFont typeface="+mj-lt"/>
              <a:buAutoNum type="arabicPeriod"/>
            </a:pPr>
            <a:r>
              <a:rPr lang="en-US" dirty="0"/>
              <a:t>Principle of Least Privilege — No direct mapping</a:t>
            </a:r>
          </a:p>
          <a:p>
            <a:pPr marL="571500" lvl="0" indent="-457200">
              <a:buFont typeface="+mj-lt"/>
              <a:buAutoNum type="arabicPeriod"/>
            </a:pPr>
            <a:r>
              <a:rPr lang="en-US" dirty="0"/>
              <a:t>Sanitize Data Sent to Other Systems — No direct mapping</a:t>
            </a:r>
          </a:p>
          <a:p>
            <a:pPr marL="571500" lvl="0" indent="-457200">
              <a:buFont typeface="+mj-lt"/>
              <a:buAutoNum type="arabicPeriod"/>
            </a:pPr>
            <a:r>
              <a:rPr lang="en-US" dirty="0"/>
              <a:t>Practice Defense in Depth — STD-002 through STD-010</a:t>
            </a:r>
          </a:p>
          <a:p>
            <a:pPr marL="571500" lvl="0" indent="-457200">
              <a:buFont typeface="+mj-lt"/>
              <a:buAutoNum type="arabicPeriod"/>
            </a:pPr>
            <a:r>
              <a:rPr lang="en-US" dirty="0"/>
              <a:t>Use Effective Quality Assurance Techniques — STD-002 through STD-010</a:t>
            </a:r>
          </a:p>
          <a:p>
            <a:pPr marL="571500" lvl="0" indent="-457200">
              <a:buFont typeface="+mj-lt"/>
              <a:buAutoNum type="arabicPeriod"/>
            </a:pPr>
            <a:r>
              <a:rPr lang="en-US" dirty="0"/>
              <a:t>Adopt a Secure Coding Standard — STD-003, 004, 005, 009, 010</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4" name="Video 23">
            <a:hlinkClick r:id="" action="ppaction://media"/>
            <a:extLst>
              <a:ext uri="{FF2B5EF4-FFF2-40B4-BE49-F238E27FC236}">
                <a16:creationId xmlns:a16="http://schemas.microsoft.com/office/drawing/2014/main" id="{76F507D7-F671-966D-CCBE-3D9DD3F10484}"/>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137"/>
    </mc:Choice>
    <mc:Fallback xmlns="">
      <p:transition spd="slow" advTm="661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4"/>
                </p:tgtEl>
              </p:cMediaNode>
            </p:video>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4"/>
                                        </p:tgtEl>
                                      </p:cBhvr>
                                    </p:cmd>
                                  </p:childTnLst>
                                </p:cTn>
                              </p:par>
                            </p:childTnLst>
                          </p:cTn>
                        </p:par>
                      </p:childTnLst>
                    </p:cTn>
                  </p:par>
                </p:childTnLst>
              </p:cTn>
              <p:nextCondLst>
                <p:cond evt="onClick" delay="0">
                  <p:tgtEl>
                    <p:spTgt spid="2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263674" y="1991013"/>
            <a:ext cx="10820400" cy="4024125"/>
          </a:xfrm>
          <a:prstGeom prst="rect">
            <a:avLst/>
          </a:prstGeom>
          <a:noFill/>
          <a:ln>
            <a:noFill/>
          </a:ln>
        </p:spPr>
        <p:txBody>
          <a:bodyPr spcFirstLastPara="1" wrap="square" lIns="91425" tIns="45700" rIns="91425" bIns="45700" anchor="t" anchorCtr="0">
            <a:normAutofit fontScale="92500" lnSpcReduction="20000"/>
          </a:bodyPr>
          <a:lstStyle/>
          <a:p>
            <a:pPr marL="571500" lvl="0" indent="-457200">
              <a:buFont typeface="+mj-lt"/>
              <a:buAutoNum type="arabicPeriod"/>
            </a:pPr>
            <a:r>
              <a:rPr lang="en-US" dirty="0"/>
              <a:t>Use Parameterized Queries for SQL Statements — Level 5</a:t>
            </a:r>
          </a:p>
          <a:p>
            <a:pPr marL="571500" lvl="0" indent="-457200">
              <a:buFont typeface="+mj-lt"/>
              <a:buAutoNum type="arabicPeriod"/>
            </a:pPr>
            <a:r>
              <a:rPr lang="en-US" dirty="0"/>
              <a:t>Guarantee Sufficient Storage for Strings — Level 4</a:t>
            </a:r>
          </a:p>
          <a:p>
            <a:pPr marL="571500" lvl="0" indent="-457200">
              <a:buFont typeface="+mj-lt"/>
              <a:buAutoNum type="arabicPeriod"/>
            </a:pPr>
            <a:r>
              <a:rPr lang="en-US" dirty="0"/>
              <a:t>Validate User Input Before Processing — Level 4</a:t>
            </a:r>
          </a:p>
          <a:p>
            <a:pPr marL="571500" lvl="0" indent="-457200">
              <a:buFont typeface="+mj-lt"/>
              <a:buAutoNum type="arabicPeriod"/>
            </a:pPr>
            <a:r>
              <a:rPr lang="en-US" dirty="0"/>
              <a:t>Verify Integer Values Are Within Range — Level 3</a:t>
            </a:r>
          </a:p>
          <a:p>
            <a:pPr marL="571500" lvl="0" indent="-457200">
              <a:buFont typeface="+mj-lt"/>
              <a:buAutoNum type="arabicPeriod"/>
            </a:pPr>
            <a:r>
              <a:rPr lang="en-US" dirty="0"/>
              <a:t>Validate Pointers Before Dereferencing — Level 3</a:t>
            </a:r>
          </a:p>
          <a:p>
            <a:pPr marL="571500" lvl="0" indent="-457200">
              <a:buFont typeface="+mj-lt"/>
              <a:buAutoNum type="arabicPeriod"/>
            </a:pPr>
            <a:r>
              <a:rPr lang="en-US" dirty="0"/>
              <a:t>Use Assertions to Detect Invalid Conditions — Level 3</a:t>
            </a:r>
          </a:p>
          <a:p>
            <a:pPr marL="571500" lvl="0" indent="-457200">
              <a:buFont typeface="+mj-lt"/>
              <a:buAutoNum type="arabicPeriod"/>
            </a:pPr>
            <a:r>
              <a:rPr lang="en-US" dirty="0"/>
              <a:t>Handle Exceptions Appropriately — Level 3</a:t>
            </a:r>
          </a:p>
          <a:p>
            <a:pPr marL="571500" lvl="0" indent="-457200">
              <a:buFont typeface="+mj-lt"/>
              <a:buAutoNum type="arabicPeriod"/>
            </a:pPr>
            <a:r>
              <a:rPr lang="en-US" dirty="0"/>
              <a:t>Release Dynamically Allocated Memory — Level 3</a:t>
            </a:r>
          </a:p>
          <a:p>
            <a:pPr marL="571500" lvl="0" indent="-457200">
              <a:buFont typeface="+mj-lt"/>
              <a:buAutoNum type="arabicPeriod"/>
            </a:pPr>
            <a:r>
              <a:rPr lang="en-US" dirty="0"/>
              <a:t>Use Appropriate Data Types — Level 2</a:t>
            </a:r>
          </a:p>
          <a:p>
            <a:pPr marL="571500" lvl="0" indent="-457200">
              <a:buFont typeface="+mj-lt"/>
              <a:buAutoNum type="arabicPeriod"/>
            </a:pPr>
            <a:r>
              <a:rPr lang="en-US" dirty="0"/>
              <a:t>Verify Files Open Successfully Before Use — Level 2</a:t>
            </a:r>
          </a:p>
          <a:p>
            <a:pPr marL="0" lvl="0" indent="0">
              <a:spcBef>
                <a:spcPts val="0"/>
              </a:spcBef>
              <a:buSzPts val="2000"/>
              <a:buNone/>
            </a:pPr>
            <a:endParaRPr lang="en-US" dirty="0"/>
          </a:p>
          <a:p>
            <a:pPr marL="0" lvl="0" indent="0" algn="ctr">
              <a:spcBef>
                <a:spcPts val="0"/>
              </a:spcBef>
              <a:buSzPts val="2000"/>
              <a:buNone/>
            </a:pPr>
            <a:r>
              <a:rPr lang="en-US" dirty="0"/>
              <a:t>Vulnerabilities are ranked from 1–5 based on severity, likelihood, and remediation cost.</a:t>
            </a:r>
            <a:endParaRPr dirty="0"/>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 name="Video 2">
            <a:hlinkClick r:id="" action="ppaction://media"/>
            <a:extLst>
              <a:ext uri="{FF2B5EF4-FFF2-40B4-BE49-F238E27FC236}">
                <a16:creationId xmlns:a16="http://schemas.microsoft.com/office/drawing/2014/main" id="{5D049BAF-30F9-FDC7-44F8-A9F09CDD850F}"/>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9697"/>
    </mc:Choice>
    <mc:Fallback xmlns="">
      <p:transition spd="slow" advTm="696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r>
              <a:rPr lang="en-US" sz="2800" dirty="0"/>
              <a:t>Data at Rest — AES-256</a:t>
            </a:r>
            <a:br>
              <a:rPr lang="en-US" sz="2800" dirty="0"/>
            </a:br>
            <a:r>
              <a:rPr lang="en-US" sz="2800" dirty="0"/>
              <a:t>Protects stored databases, files, and sensitive customer information.</a:t>
            </a:r>
          </a:p>
          <a:p>
            <a:r>
              <a:rPr lang="en-US" sz="2800" dirty="0"/>
              <a:t>Data in Transit — TLS 1.3</a:t>
            </a:r>
            <a:br>
              <a:rPr lang="en-US" sz="2800" dirty="0"/>
            </a:br>
            <a:r>
              <a:rPr lang="en-US" sz="2800" dirty="0"/>
              <a:t>Protects information traveling between users, applications, and servers.</a:t>
            </a:r>
          </a:p>
          <a:p>
            <a:r>
              <a:rPr lang="en-US" sz="2800" dirty="0"/>
              <a:t>Data in Use — Secure Memory Protection</a:t>
            </a:r>
            <a:br>
              <a:rPr lang="en-US" sz="2800" dirty="0"/>
            </a:br>
            <a:r>
              <a:rPr lang="en-US" sz="2800" dirty="0"/>
              <a:t>Protects sensitive information while applications process it.</a:t>
            </a:r>
          </a:p>
          <a:p>
            <a:r>
              <a:rPr lang="en-US" sz="2800" dirty="0"/>
              <a:t>Key Management</a:t>
            </a:r>
            <a:br>
              <a:rPr lang="en-US" sz="2800" dirty="0"/>
            </a:br>
            <a:r>
              <a:rPr lang="en-US" sz="2800" dirty="0"/>
              <a:t>Restrict access to encryption keys and validate security certificates.</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3" name="Video 12">
            <a:hlinkClick r:id="" action="ppaction://media"/>
            <a:extLst>
              <a:ext uri="{FF2B5EF4-FFF2-40B4-BE49-F238E27FC236}">
                <a16:creationId xmlns:a16="http://schemas.microsoft.com/office/drawing/2014/main" id="{543E1951-F0FA-BC84-1444-8933F7C9B21A}"/>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682"/>
    </mc:Choice>
    <mc:Fallback xmlns="">
      <p:transition spd="slow" advTm="666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TRIPLE-A POLICIES</a:t>
            </a:r>
            <a:endParaRPr dirty="0"/>
          </a:p>
        </p:txBody>
      </p:sp>
      <p:sp>
        <p:nvSpPr>
          <p:cNvPr id="189" name="Google Shape;189;p8"/>
          <p:cNvSpPr txBox="1">
            <a:spLocks noGrp="1"/>
          </p:cNvSpPr>
          <p:nvPr>
            <p:ph type="body" idx="1"/>
          </p:nvPr>
        </p:nvSpPr>
        <p:spPr>
          <a:xfrm>
            <a:off x="685800" y="2194561"/>
            <a:ext cx="10820400" cy="3017520"/>
          </a:xfrm>
          <a:prstGeom prst="rect">
            <a:avLst/>
          </a:prstGeom>
          <a:noFill/>
          <a:ln>
            <a:noFill/>
          </a:ln>
        </p:spPr>
        <p:txBody>
          <a:bodyPr spcFirstLastPara="1" wrap="square" lIns="91425" tIns="45700" rIns="91425" bIns="45700" anchor="t" anchorCtr="0">
            <a:noAutofit/>
          </a:bodyPr>
          <a:lstStyle/>
          <a:p>
            <a:r>
              <a:rPr lang="en-US" sz="2800" dirty="0"/>
              <a:t>Authentication</a:t>
            </a:r>
            <a:br>
              <a:rPr lang="en-US" sz="2800" dirty="0"/>
            </a:br>
            <a:r>
              <a:rPr lang="en-US" sz="2800" dirty="0"/>
              <a:t>Verifies user identity through passwords and multi-factor authentication.</a:t>
            </a:r>
          </a:p>
          <a:p>
            <a:r>
              <a:rPr lang="en-US" sz="2800" dirty="0"/>
              <a:t>Authorization</a:t>
            </a:r>
            <a:br>
              <a:rPr lang="en-US" sz="2800" dirty="0"/>
            </a:br>
            <a:r>
              <a:rPr lang="en-US" sz="2800" dirty="0"/>
              <a:t>Limits access based on user roles and permissions.</a:t>
            </a:r>
          </a:p>
          <a:p>
            <a:r>
              <a:rPr lang="en-US" sz="2800" dirty="0"/>
              <a:t>Accounting</a:t>
            </a:r>
            <a:br>
              <a:rPr lang="en-US" sz="2800" dirty="0"/>
            </a:br>
            <a:r>
              <a:rPr lang="en-US" sz="2800" dirty="0"/>
              <a:t>Records user activity through audit logs to identify suspicious behavior.</a:t>
            </a:r>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5" name="Video 24">
            <a:hlinkClick r:id="" action="ppaction://media"/>
            <a:extLst>
              <a:ext uri="{FF2B5EF4-FFF2-40B4-BE49-F238E27FC236}">
                <a16:creationId xmlns:a16="http://schemas.microsoft.com/office/drawing/2014/main" id="{1262363C-C3E1-5B99-2699-C294D55AD250}"/>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7690"/>
    </mc:Choice>
    <mc:Fallback xmlns="">
      <p:transition spd="slow" advTm="57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5"/>
                </p:tgtEl>
              </p:cMediaNode>
            </p:video>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Unit Testing</a:t>
            </a:r>
            <a:endParaRPr dirty="0"/>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114300" indent="0">
              <a:buNone/>
            </a:pPr>
            <a:r>
              <a:rPr lang="en-US" sz="3200" dirty="0"/>
              <a:t>Input Validation</a:t>
            </a:r>
          </a:p>
          <a:p>
            <a:pPr marL="114300" indent="0">
              <a:buNone/>
            </a:pPr>
            <a:r>
              <a:rPr lang="en-US" sz="3200" dirty="0"/>
              <a:t>STD-008-CPP | </a:t>
            </a:r>
            <a:r>
              <a:rPr lang="en-US" sz="3200" dirty="0" err="1"/>
              <a:t>GoogleTest</a:t>
            </a:r>
            <a:endParaRPr lang="en-US" sz="3200" dirty="0"/>
          </a:p>
          <a:p>
            <a:r>
              <a:rPr lang="en-US" sz="3200" dirty="0"/>
              <a:t>Positive: Accept valid inputs</a:t>
            </a:r>
          </a:p>
          <a:p>
            <a:r>
              <a:rPr lang="en-US" sz="3200" dirty="0"/>
              <a:t>Negative: Reject invalid inputs</a:t>
            </a:r>
          </a:p>
          <a:p>
            <a:r>
              <a:rPr lang="en-US" sz="3200" dirty="0"/>
              <a:t>Boundary: Verify input limits</a:t>
            </a:r>
          </a:p>
          <a:p>
            <a:pPr marL="114300" indent="0">
              <a:buNone/>
            </a:pPr>
            <a:endParaRPr lang="en-US" sz="3200" dirty="0"/>
          </a:p>
          <a:p>
            <a:pPr marL="114300" indent="0">
              <a:buNone/>
            </a:pPr>
            <a:r>
              <a:rPr lang="en-US" sz="3200" dirty="0"/>
              <a:t>Goal: Identify vulnerabilities before deployment.</a:t>
            </a:r>
          </a:p>
          <a:p>
            <a:pPr marL="114300" indent="0">
              <a:buNone/>
            </a:pPr>
            <a:endParaRPr lang="en-US" sz="3200" dirty="0"/>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9" name="Video 8">
            <a:hlinkClick r:id="" action="ppaction://media"/>
            <a:extLst>
              <a:ext uri="{FF2B5EF4-FFF2-40B4-BE49-F238E27FC236}">
                <a16:creationId xmlns:a16="http://schemas.microsoft.com/office/drawing/2014/main" id="{C91C2E73-B24E-2529-B4BB-7FFD60BEDD73}"/>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672"/>
    </mc:Choice>
    <mc:Fallback xmlns="">
      <p:transition spd="slow" advTm="496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85FF4-DBF0-AC9F-5701-E741E55857A2}"/>
              </a:ext>
            </a:extLst>
          </p:cNvPr>
          <p:cNvSpPr>
            <a:spLocks noGrp="1"/>
          </p:cNvSpPr>
          <p:nvPr>
            <p:ph type="title"/>
          </p:nvPr>
        </p:nvSpPr>
        <p:spPr/>
        <p:txBody>
          <a:bodyPr/>
          <a:lstStyle/>
          <a:p>
            <a:r>
              <a:rPr lang="en-US" dirty="0"/>
              <a:t>Unit Testing: Positive Test</a:t>
            </a:r>
          </a:p>
        </p:txBody>
      </p:sp>
      <p:sp>
        <p:nvSpPr>
          <p:cNvPr id="3" name="Text Placeholder 2">
            <a:extLst>
              <a:ext uri="{FF2B5EF4-FFF2-40B4-BE49-F238E27FC236}">
                <a16:creationId xmlns:a16="http://schemas.microsoft.com/office/drawing/2014/main" id="{9800EF33-7C3B-6CFB-36CA-E6EE5D8FA86A}"/>
              </a:ext>
            </a:extLst>
          </p:cNvPr>
          <p:cNvSpPr>
            <a:spLocks noGrp="1"/>
          </p:cNvSpPr>
          <p:nvPr>
            <p:ph type="body" idx="1"/>
          </p:nvPr>
        </p:nvSpPr>
        <p:spPr/>
        <p:txBody>
          <a:bodyPr/>
          <a:lstStyle/>
          <a:p>
            <a:pPr lvl="0"/>
            <a:r>
              <a:rPr lang="en-US" dirty="0"/>
              <a:t>Input: 25</a:t>
            </a:r>
          </a:p>
          <a:p>
            <a:pPr lvl="0"/>
            <a:r>
              <a:rPr lang="en-US" dirty="0"/>
              <a:t>Expected Result: Input accepted</a:t>
            </a:r>
          </a:p>
          <a:p>
            <a:pPr lvl="0"/>
            <a:r>
              <a:rPr lang="en-US" dirty="0"/>
              <a:t>Assertion: EXPECT_TRUE</a:t>
            </a:r>
          </a:p>
          <a:p>
            <a:pPr lvl="0"/>
            <a:r>
              <a:rPr lang="en-US" dirty="0"/>
              <a:t>Purpose: Verify valid input is accepted</a:t>
            </a:r>
          </a:p>
          <a:p>
            <a:endParaRPr lang="en-US" dirty="0"/>
          </a:p>
        </p:txBody>
      </p:sp>
      <p:pic>
        <p:nvPicPr>
          <p:cNvPr id="5" name="Picture 4">
            <a:extLst>
              <a:ext uri="{FF2B5EF4-FFF2-40B4-BE49-F238E27FC236}">
                <a16:creationId xmlns:a16="http://schemas.microsoft.com/office/drawing/2014/main" id="{0E673601-7454-0561-E0BC-F39F703FB147}"/>
              </a:ext>
            </a:extLst>
          </p:cNvPr>
          <p:cNvPicPr>
            <a:picLocks noChangeAspect="1"/>
          </p:cNvPicPr>
          <p:nvPr/>
        </p:nvPicPr>
        <p:blipFill>
          <a:blip r:embed="rId5"/>
          <a:stretch>
            <a:fillRect/>
          </a:stretch>
        </p:blipFill>
        <p:spPr>
          <a:xfrm>
            <a:off x="6491916" y="2194561"/>
            <a:ext cx="5120964" cy="3245965"/>
          </a:xfrm>
          <a:prstGeom prst="rect">
            <a:avLst/>
          </a:prstGeom>
        </p:spPr>
      </p:pic>
      <p:pic>
        <p:nvPicPr>
          <p:cNvPr id="7" name="Google Shape;197;g9504e29505_0_0" descr="Green Pace logo">
            <a:extLst>
              <a:ext uri="{FF2B5EF4-FFF2-40B4-BE49-F238E27FC236}">
                <a16:creationId xmlns:a16="http://schemas.microsoft.com/office/drawing/2014/main" id="{9CDE97C6-F2AD-CDA1-FAA0-15DEB07DD40C}"/>
              </a:ext>
            </a:extLst>
          </p:cNvPr>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5" name="Video 14">
            <a:hlinkClick r:id="" action="ppaction://media"/>
            <a:extLst>
              <a:ext uri="{FF2B5EF4-FFF2-40B4-BE49-F238E27FC236}">
                <a16:creationId xmlns:a16="http://schemas.microsoft.com/office/drawing/2014/main" id="{B9DA129E-03F8-0434-2C77-715E54C99CC2}"/>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20605023"/>
      </p:ext>
    </p:extLst>
  </p:cSld>
  <p:clrMapOvr>
    <a:masterClrMapping/>
  </p:clrMapOvr>
  <mc:AlternateContent xmlns:mc="http://schemas.openxmlformats.org/markup-compatibility/2006" xmlns:p14="http://schemas.microsoft.com/office/powerpoint/2010/main">
    <mc:Choice Requires="p14">
      <p:transition spd="slow" p14:dur="2000" advTm="29885"/>
    </mc:Choice>
    <mc:Fallback xmlns="">
      <p:transition spd="slow" advTm="298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5"/>
                </p:tgtEl>
              </p:cMediaNode>
            </p:video>
            <p:seq concurrent="1" nextAc="seek">
              <p:cTn id="8" restart="whenNotActive" fill="hold" evtFilter="cancelBubble" nodeType="interactiveSeq">
                <p:stCondLst>
                  <p:cond evt="onClick" delay="0">
                    <p:tgtEl>
                      <p:spTgt spid="1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5"/>
                                        </p:tgtEl>
                                      </p:cBhvr>
                                    </p:cmd>
                                  </p:childTnLst>
                                </p:cTn>
                              </p:par>
                            </p:childTnLst>
                          </p:cTn>
                        </p:par>
                      </p:childTnLst>
                    </p:cTn>
                  </p:par>
                </p:childTnLst>
              </p:cTn>
              <p:nextCondLst>
                <p:cond evt="onClick" delay="0">
                  <p:tgtEl>
                    <p:spTgt spid="1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13164-9710-0EF3-9B05-DB93E2151C82}"/>
              </a:ext>
            </a:extLst>
          </p:cNvPr>
          <p:cNvSpPr>
            <a:spLocks noGrp="1"/>
          </p:cNvSpPr>
          <p:nvPr>
            <p:ph type="title"/>
          </p:nvPr>
        </p:nvSpPr>
        <p:spPr/>
        <p:txBody>
          <a:bodyPr/>
          <a:lstStyle/>
          <a:p>
            <a:r>
              <a:rPr lang="en-US" dirty="0"/>
              <a:t>Unit Testing: Negative Test</a:t>
            </a:r>
          </a:p>
        </p:txBody>
      </p:sp>
      <p:sp>
        <p:nvSpPr>
          <p:cNvPr id="3" name="Text Placeholder 2">
            <a:extLst>
              <a:ext uri="{FF2B5EF4-FFF2-40B4-BE49-F238E27FC236}">
                <a16:creationId xmlns:a16="http://schemas.microsoft.com/office/drawing/2014/main" id="{78229F22-B0A0-CE92-72F5-AB7387E3C3A6}"/>
              </a:ext>
            </a:extLst>
          </p:cNvPr>
          <p:cNvSpPr>
            <a:spLocks noGrp="1"/>
          </p:cNvSpPr>
          <p:nvPr>
            <p:ph type="body" idx="1"/>
          </p:nvPr>
        </p:nvSpPr>
        <p:spPr>
          <a:xfrm>
            <a:off x="685800" y="2194560"/>
            <a:ext cx="10398274" cy="4024125"/>
          </a:xfrm>
        </p:spPr>
        <p:txBody>
          <a:bodyPr numCol="2"/>
          <a:lstStyle/>
          <a:p>
            <a:pPr lvl="0"/>
            <a:r>
              <a:rPr lang="en-US" sz="2000" dirty="0"/>
              <a:t>Input: -5</a:t>
            </a:r>
          </a:p>
          <a:p>
            <a:pPr lvl="0"/>
            <a:r>
              <a:rPr lang="en-US" sz="2000" dirty="0"/>
              <a:t>Expected Result: Input rejected</a:t>
            </a:r>
          </a:p>
          <a:p>
            <a:pPr lvl="0"/>
            <a:r>
              <a:rPr lang="en-US" sz="2000" dirty="0"/>
              <a:t>Assertion: EXPECT_FALSE</a:t>
            </a:r>
          </a:p>
          <a:p>
            <a:pPr lvl="0"/>
            <a:r>
              <a:rPr lang="en-US" sz="2000" dirty="0"/>
              <a:t>Purpose: Verify invalid input is rejected</a:t>
            </a:r>
          </a:p>
          <a:p>
            <a:endParaRPr lang="en-US" dirty="0"/>
          </a:p>
        </p:txBody>
      </p:sp>
      <p:pic>
        <p:nvPicPr>
          <p:cNvPr id="5" name="Google Shape;197;g9504e29505_0_0" descr="Green Pace logo">
            <a:extLst>
              <a:ext uri="{FF2B5EF4-FFF2-40B4-BE49-F238E27FC236}">
                <a16:creationId xmlns:a16="http://schemas.microsoft.com/office/drawing/2014/main" id="{51E63B00-EF6B-63CE-5058-51669ED60253}"/>
              </a:ext>
            </a:extLst>
          </p:cNvPr>
          <p:cNvPicPr preferRelativeResize="0"/>
          <p:nvPr/>
        </p:nvPicPr>
        <p:blipFill>
          <a:blip r:embed="rId5">
            <a:alphaModFix/>
          </a:blip>
          <a:stretch>
            <a:fillRect/>
          </a:stretch>
        </p:blipFill>
        <p:spPr>
          <a:xfrm>
            <a:off x="11062899" y="5519014"/>
            <a:ext cx="886601" cy="1149225"/>
          </a:xfrm>
          <a:prstGeom prst="rect">
            <a:avLst/>
          </a:prstGeom>
          <a:noFill/>
          <a:ln>
            <a:noFill/>
          </a:ln>
        </p:spPr>
      </p:pic>
      <p:pic>
        <p:nvPicPr>
          <p:cNvPr id="9" name="Picture 8">
            <a:extLst>
              <a:ext uri="{FF2B5EF4-FFF2-40B4-BE49-F238E27FC236}">
                <a16:creationId xmlns:a16="http://schemas.microsoft.com/office/drawing/2014/main" id="{092C988F-699A-2F7A-728B-0E7BBEAA186C}"/>
              </a:ext>
            </a:extLst>
          </p:cNvPr>
          <p:cNvPicPr>
            <a:picLocks noChangeAspect="1"/>
          </p:cNvPicPr>
          <p:nvPr/>
        </p:nvPicPr>
        <p:blipFill>
          <a:blip r:embed="rId6"/>
          <a:stretch>
            <a:fillRect/>
          </a:stretch>
        </p:blipFill>
        <p:spPr>
          <a:xfrm>
            <a:off x="5377886" y="2331939"/>
            <a:ext cx="5685013" cy="3749365"/>
          </a:xfrm>
          <a:prstGeom prst="rect">
            <a:avLst/>
          </a:prstGeom>
        </p:spPr>
      </p:pic>
      <p:pic>
        <p:nvPicPr>
          <p:cNvPr id="23" name="Video 22">
            <a:hlinkClick r:id="" action="ppaction://media"/>
            <a:extLst>
              <a:ext uri="{FF2B5EF4-FFF2-40B4-BE49-F238E27FC236}">
                <a16:creationId xmlns:a16="http://schemas.microsoft.com/office/drawing/2014/main" id="{7F65C228-6C76-D8CC-F7D0-5816706E28E4}"/>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6242902"/>
      </p:ext>
    </p:extLst>
  </p:cSld>
  <p:clrMapOvr>
    <a:masterClrMapping/>
  </p:clrMapOvr>
  <mc:AlternateContent xmlns:mc="http://schemas.openxmlformats.org/markup-compatibility/2006" xmlns:p14="http://schemas.microsoft.com/office/powerpoint/2010/main">
    <mc:Choice Requires="p14">
      <p:transition spd="slow" p14:dur="2000" advTm="31823"/>
    </mc:Choice>
    <mc:Fallback xmlns="">
      <p:transition spd="slow" advTm="318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3"/>
                </p:tgtEl>
              </p:cMediaNode>
            </p:video>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5DB7A-9666-17D3-44F6-60FC68C3AE15}"/>
              </a:ext>
            </a:extLst>
          </p:cNvPr>
          <p:cNvSpPr>
            <a:spLocks noGrp="1"/>
          </p:cNvSpPr>
          <p:nvPr>
            <p:ph type="title"/>
          </p:nvPr>
        </p:nvSpPr>
        <p:spPr>
          <a:xfrm>
            <a:off x="2042160" y="764373"/>
            <a:ext cx="9464040" cy="1293028"/>
          </a:xfrm>
        </p:spPr>
        <p:txBody>
          <a:bodyPr/>
          <a:lstStyle/>
          <a:p>
            <a:r>
              <a:rPr lang="en-US" dirty="0"/>
              <a:t>Unit Testing: Minimum Boundary Test</a:t>
            </a:r>
          </a:p>
        </p:txBody>
      </p:sp>
      <p:sp>
        <p:nvSpPr>
          <p:cNvPr id="3" name="Text Placeholder 2">
            <a:extLst>
              <a:ext uri="{FF2B5EF4-FFF2-40B4-BE49-F238E27FC236}">
                <a16:creationId xmlns:a16="http://schemas.microsoft.com/office/drawing/2014/main" id="{DBB6A371-78F6-340D-B549-618508C63330}"/>
              </a:ext>
            </a:extLst>
          </p:cNvPr>
          <p:cNvSpPr>
            <a:spLocks noGrp="1"/>
          </p:cNvSpPr>
          <p:nvPr>
            <p:ph type="body" idx="1"/>
          </p:nvPr>
        </p:nvSpPr>
        <p:spPr>
          <a:xfrm>
            <a:off x="685800" y="2194560"/>
            <a:ext cx="10377099" cy="4024125"/>
          </a:xfrm>
        </p:spPr>
        <p:txBody>
          <a:bodyPr numCol="2"/>
          <a:lstStyle/>
          <a:p>
            <a:pPr lvl="0"/>
            <a:r>
              <a:rPr lang="en-US" dirty="0"/>
              <a:t>Input: 1</a:t>
            </a:r>
          </a:p>
          <a:p>
            <a:pPr lvl="0"/>
            <a:r>
              <a:rPr lang="en-US" dirty="0"/>
              <a:t>Expected Result: Input accepted</a:t>
            </a:r>
          </a:p>
          <a:p>
            <a:pPr lvl="0"/>
            <a:r>
              <a:rPr lang="en-US" dirty="0"/>
              <a:t>Assertion: EXPECT_TRUE</a:t>
            </a:r>
          </a:p>
          <a:p>
            <a:pPr lvl="0"/>
            <a:r>
              <a:rPr lang="en-US" dirty="0"/>
              <a:t>Purpose: Verify the minimum allowed value</a:t>
            </a:r>
          </a:p>
          <a:p>
            <a:endParaRPr lang="en-US" dirty="0"/>
          </a:p>
        </p:txBody>
      </p:sp>
      <p:pic>
        <p:nvPicPr>
          <p:cNvPr id="5" name="Google Shape;197;g9504e29505_0_0" descr="Green Pace logo">
            <a:extLst>
              <a:ext uri="{FF2B5EF4-FFF2-40B4-BE49-F238E27FC236}">
                <a16:creationId xmlns:a16="http://schemas.microsoft.com/office/drawing/2014/main" id="{36C1A90F-C0D5-F267-A9F8-1B811FBAE119}"/>
              </a:ext>
            </a:extLst>
          </p:cNvPr>
          <p:cNvPicPr preferRelativeResize="0"/>
          <p:nvPr/>
        </p:nvPicPr>
        <p:blipFill>
          <a:blip r:embed="rId5">
            <a:alphaModFix/>
          </a:blip>
          <a:stretch>
            <a:fillRect/>
          </a:stretch>
        </p:blipFill>
        <p:spPr>
          <a:xfrm>
            <a:off x="11062899" y="5519014"/>
            <a:ext cx="886601" cy="1149225"/>
          </a:xfrm>
          <a:prstGeom prst="rect">
            <a:avLst/>
          </a:prstGeom>
          <a:noFill/>
          <a:ln>
            <a:noFill/>
          </a:ln>
        </p:spPr>
      </p:pic>
      <p:pic>
        <p:nvPicPr>
          <p:cNvPr id="7" name="Picture 6">
            <a:extLst>
              <a:ext uri="{FF2B5EF4-FFF2-40B4-BE49-F238E27FC236}">
                <a16:creationId xmlns:a16="http://schemas.microsoft.com/office/drawing/2014/main" id="{3F07A541-DADF-42FC-0A1A-7E12D2C7CAEE}"/>
              </a:ext>
            </a:extLst>
          </p:cNvPr>
          <p:cNvPicPr>
            <a:picLocks noChangeAspect="1"/>
          </p:cNvPicPr>
          <p:nvPr/>
        </p:nvPicPr>
        <p:blipFill>
          <a:blip r:embed="rId6"/>
          <a:stretch>
            <a:fillRect/>
          </a:stretch>
        </p:blipFill>
        <p:spPr>
          <a:xfrm>
            <a:off x="5979919" y="2257088"/>
            <a:ext cx="5082980" cy="3899067"/>
          </a:xfrm>
          <a:prstGeom prst="rect">
            <a:avLst/>
          </a:prstGeom>
        </p:spPr>
      </p:pic>
      <p:pic>
        <p:nvPicPr>
          <p:cNvPr id="30" name="Video 29">
            <a:hlinkClick r:id="" action="ppaction://media"/>
            <a:extLst>
              <a:ext uri="{FF2B5EF4-FFF2-40B4-BE49-F238E27FC236}">
                <a16:creationId xmlns:a16="http://schemas.microsoft.com/office/drawing/2014/main" id="{219ED55B-6C38-55AE-B1F3-015F806FF666}"/>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49411939"/>
      </p:ext>
    </p:extLst>
  </p:cSld>
  <p:clrMapOvr>
    <a:masterClrMapping/>
  </p:clrMapOvr>
  <mc:AlternateContent xmlns:mc="http://schemas.openxmlformats.org/markup-compatibility/2006" xmlns:p14="http://schemas.microsoft.com/office/powerpoint/2010/main">
    <mc:Choice Requires="p14">
      <p:transition spd="slow" p14:dur="2000" advTm="31536"/>
    </mc:Choice>
    <mc:Fallback xmlns="">
      <p:transition spd="slow" advTm="315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0"/>
                </p:tgtEl>
              </p:cMediaNode>
            </p:video>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0"/>
                                        </p:tgtEl>
                                      </p:cBhvr>
                                    </p:cmd>
                                  </p:childTnLst>
                                </p:cTn>
                              </p:par>
                            </p:childTnLst>
                          </p:cTn>
                        </p:par>
                      </p:childTnLst>
                    </p:cTn>
                  </p:par>
                </p:childTnLst>
              </p:cTn>
              <p:nextCondLst>
                <p:cond evt="onClick" delay="0">
                  <p:tgtEl>
                    <p:spTgt spid="30"/>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11F91-44BE-A30B-C09D-9C38500A1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F6D1F5-53E7-A923-4687-40143CAA0F01}"/>
              </a:ext>
            </a:extLst>
          </p:cNvPr>
          <p:cNvSpPr>
            <a:spLocks noGrp="1"/>
          </p:cNvSpPr>
          <p:nvPr>
            <p:ph type="title"/>
          </p:nvPr>
        </p:nvSpPr>
        <p:spPr>
          <a:xfrm>
            <a:off x="2042160" y="764373"/>
            <a:ext cx="9464040" cy="1293028"/>
          </a:xfrm>
        </p:spPr>
        <p:txBody>
          <a:bodyPr/>
          <a:lstStyle/>
          <a:p>
            <a:r>
              <a:rPr lang="en-US" dirty="0"/>
              <a:t>Unit Testing: Maximum Boundary</a:t>
            </a:r>
          </a:p>
        </p:txBody>
      </p:sp>
      <p:sp>
        <p:nvSpPr>
          <p:cNvPr id="3" name="Text Placeholder 2">
            <a:extLst>
              <a:ext uri="{FF2B5EF4-FFF2-40B4-BE49-F238E27FC236}">
                <a16:creationId xmlns:a16="http://schemas.microsoft.com/office/drawing/2014/main" id="{60FFC9B0-24AF-A03C-14A0-E42A08CD4F8E}"/>
              </a:ext>
            </a:extLst>
          </p:cNvPr>
          <p:cNvSpPr>
            <a:spLocks noGrp="1"/>
          </p:cNvSpPr>
          <p:nvPr>
            <p:ph type="body" idx="1"/>
          </p:nvPr>
        </p:nvSpPr>
        <p:spPr>
          <a:xfrm>
            <a:off x="685800" y="2194560"/>
            <a:ext cx="10377099" cy="4024125"/>
          </a:xfrm>
        </p:spPr>
        <p:txBody>
          <a:bodyPr numCol="2"/>
          <a:lstStyle/>
          <a:p>
            <a:pPr lvl="0"/>
            <a:r>
              <a:rPr lang="en-US" dirty="0"/>
              <a:t>Input: 100</a:t>
            </a:r>
          </a:p>
          <a:p>
            <a:pPr lvl="0"/>
            <a:r>
              <a:rPr lang="en-US" dirty="0"/>
              <a:t>Expected Result: Input accepted</a:t>
            </a:r>
          </a:p>
          <a:p>
            <a:pPr lvl="0"/>
            <a:r>
              <a:rPr lang="en-US" dirty="0"/>
              <a:t>Assertion: EXPECT_TRUE</a:t>
            </a:r>
          </a:p>
          <a:p>
            <a:pPr lvl="0"/>
            <a:r>
              <a:rPr lang="en-US" dirty="0"/>
              <a:t>Purpose: Verify the maximum allowed value</a:t>
            </a:r>
          </a:p>
          <a:p>
            <a:endParaRPr lang="en-US" dirty="0"/>
          </a:p>
        </p:txBody>
      </p:sp>
      <p:pic>
        <p:nvPicPr>
          <p:cNvPr id="5" name="Google Shape;197;g9504e29505_0_0" descr="Green Pace logo">
            <a:extLst>
              <a:ext uri="{FF2B5EF4-FFF2-40B4-BE49-F238E27FC236}">
                <a16:creationId xmlns:a16="http://schemas.microsoft.com/office/drawing/2014/main" id="{F3DE6312-2DBE-E03A-6F10-2D3DC3484A5E}"/>
              </a:ext>
            </a:extLst>
          </p:cNvPr>
          <p:cNvPicPr preferRelativeResize="0"/>
          <p:nvPr/>
        </p:nvPicPr>
        <p:blipFill>
          <a:blip r:embed="rId5">
            <a:alphaModFix/>
          </a:blip>
          <a:stretch>
            <a:fillRect/>
          </a:stretch>
        </p:blipFill>
        <p:spPr>
          <a:xfrm>
            <a:off x="11062899" y="5519014"/>
            <a:ext cx="886601" cy="1149225"/>
          </a:xfrm>
          <a:prstGeom prst="rect">
            <a:avLst/>
          </a:prstGeom>
          <a:noFill/>
          <a:ln>
            <a:noFill/>
          </a:ln>
        </p:spPr>
      </p:pic>
      <p:pic>
        <p:nvPicPr>
          <p:cNvPr id="6" name="Picture 5">
            <a:extLst>
              <a:ext uri="{FF2B5EF4-FFF2-40B4-BE49-F238E27FC236}">
                <a16:creationId xmlns:a16="http://schemas.microsoft.com/office/drawing/2014/main" id="{142A9AEC-E667-7CF3-197C-1B885309491C}"/>
              </a:ext>
            </a:extLst>
          </p:cNvPr>
          <p:cNvPicPr>
            <a:picLocks noChangeAspect="1"/>
          </p:cNvPicPr>
          <p:nvPr/>
        </p:nvPicPr>
        <p:blipFill>
          <a:blip r:embed="rId6"/>
          <a:stretch>
            <a:fillRect/>
          </a:stretch>
        </p:blipFill>
        <p:spPr>
          <a:xfrm>
            <a:off x="6217920" y="1989887"/>
            <a:ext cx="4968240" cy="3733800"/>
          </a:xfrm>
          <a:prstGeom prst="rect">
            <a:avLst/>
          </a:prstGeom>
        </p:spPr>
      </p:pic>
      <p:pic>
        <p:nvPicPr>
          <p:cNvPr id="33" name="Video 32">
            <a:hlinkClick r:id="" action="ppaction://media"/>
            <a:extLst>
              <a:ext uri="{FF2B5EF4-FFF2-40B4-BE49-F238E27FC236}">
                <a16:creationId xmlns:a16="http://schemas.microsoft.com/office/drawing/2014/main" id="{8492BAEF-71E8-9257-5DEB-774325440AC1}"/>
              </a:ext>
            </a:extLst>
          </p:cNvPr>
          <p:cNvPicPr>
            <a:picLocks noChangeAspect="1"/>
          </p:cNvPicPr>
          <p:nvPr>
            <a:videoFile r:link="rId2"/>
            <p:extLst>
              <p:ext uri="{DAA4B4D4-6D71-4841-9C94-3DE7FCFB9230}">
                <p14:media xmlns:p14="http://schemas.microsoft.com/office/powerpoint/2010/main" r:embed="rId1"/>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868990786"/>
      </p:ext>
    </p:extLst>
  </p:cSld>
  <p:clrMapOvr>
    <a:masterClrMapping/>
  </p:clrMapOvr>
  <mc:AlternateContent xmlns:mc="http://schemas.openxmlformats.org/markup-compatibility/2006" xmlns:p14="http://schemas.microsoft.com/office/powerpoint/2010/main">
    <mc:Choice Requires="p14">
      <p:transition spd="slow" p14:dur="2000" advTm="37648"/>
    </mc:Choice>
    <mc:Fallback xmlns="">
      <p:transition spd="slow" advTm="376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3"/>
                </p:tgtEl>
              </p:cMediaNode>
            </p:video>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3"/>
                                        </p:tgtEl>
                                      </p:cBhvr>
                                    </p:cmd>
                                  </p:childTnLst>
                                </p:cTn>
                              </p:par>
                            </p:childTnLst>
                          </p:cTn>
                        </p:par>
                      </p:childTnLst>
                    </p:cTn>
                  </p:par>
                </p:childTnLst>
              </p:cTn>
              <p:nextCondLst>
                <p:cond evt="onClick" delay="0">
                  <p:tgtEl>
                    <p:spTgt spid="3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46" name="Video 45">
            <a:hlinkClick r:id="" action="ppaction://media"/>
            <a:extLst>
              <a:ext uri="{FF2B5EF4-FFF2-40B4-BE49-F238E27FC236}">
                <a16:creationId xmlns:a16="http://schemas.microsoft.com/office/drawing/2014/main" id="{933022FC-D3EF-EFAD-77CB-7E2D71DBD82D}"/>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8"/>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277"/>
    </mc:Choice>
    <mc:Fallback xmlns="">
      <p:transition spd="slow" advTm="492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6"/>
                </p:tgtEl>
              </p:cMediaNode>
            </p:video>
            <p:seq concurrent="1" nextAc="seek">
              <p:cTn id="8" restart="whenNotActive" fill="hold" evtFilter="cancelBubble" nodeType="interactiveSeq">
                <p:stCondLst>
                  <p:cond evt="onClick" delay="0">
                    <p:tgtEl>
                      <p:spTgt spid="4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6"/>
                                        </p:tgtEl>
                                      </p:cBhvr>
                                    </p:cmd>
                                  </p:childTnLst>
                                </p:cTn>
                              </p:par>
                            </p:childTnLst>
                          </p:cTn>
                        </p:par>
                      </p:childTnLst>
                    </p:cTn>
                  </p:par>
                </p:childTnLst>
              </p:cTn>
              <p:nextCondLst>
                <p:cond evt="onClick" delay="0">
                  <p:tgtEl>
                    <p:spTgt spid="46"/>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spcBef>
                <a:spcPts val="0"/>
              </a:spcBef>
              <a:buSzPts val="2000"/>
            </a:pPr>
            <a:r>
              <a:rPr lang="en-US" sz="2800" dirty="0"/>
              <a:t>Planning and Coding — Apply secure coding standards and review security requirements.</a:t>
            </a:r>
          </a:p>
          <a:p>
            <a:pPr marL="685800" lvl="1" indent="-228600">
              <a:spcBef>
                <a:spcPts val="0"/>
              </a:spcBef>
              <a:buSzPts val="2000"/>
            </a:pPr>
            <a:r>
              <a:rPr lang="en-US" sz="2800" dirty="0"/>
              <a:t>Build — GCC, Clang-Tidy, and </a:t>
            </a:r>
            <a:r>
              <a:rPr lang="en-US" sz="2800" dirty="0" err="1"/>
              <a:t>Cppcheck</a:t>
            </a:r>
            <a:r>
              <a:rPr lang="en-US" sz="2800" dirty="0"/>
              <a:t> identify coding vulnerabilities through static analysis.</a:t>
            </a:r>
          </a:p>
          <a:p>
            <a:pPr marL="685800" lvl="1" indent="-228600">
              <a:spcBef>
                <a:spcPts val="0"/>
              </a:spcBef>
              <a:buSzPts val="2000"/>
            </a:pPr>
            <a:r>
              <a:rPr lang="en-US" sz="2800" dirty="0"/>
              <a:t>Testing — </a:t>
            </a:r>
            <a:r>
              <a:rPr lang="en-US" sz="2800" dirty="0" err="1"/>
              <a:t>GoogleTest</a:t>
            </a:r>
            <a:r>
              <a:rPr lang="en-US" sz="2800" dirty="0"/>
              <a:t> and sanitizers detect functional errors, memory issues, and unsafe inputs.</a:t>
            </a:r>
          </a:p>
          <a:p>
            <a:pPr marL="685800" lvl="1" indent="-228600">
              <a:spcBef>
                <a:spcPts val="0"/>
              </a:spcBef>
              <a:buSzPts val="2000"/>
            </a:pPr>
            <a:r>
              <a:rPr lang="en-US" sz="2800" dirty="0"/>
              <a:t>Deployment and Monitoring — Automated security checks, audit logs, and alerts support ongoing protection.</a:t>
            </a:r>
            <a:endParaRPr sz="2800" dirty="0"/>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8" name="Video 17">
            <a:hlinkClick r:id="" action="ppaction://media"/>
            <a:extLst>
              <a:ext uri="{FF2B5EF4-FFF2-40B4-BE49-F238E27FC236}">
                <a16:creationId xmlns:a16="http://schemas.microsoft.com/office/drawing/2014/main" id="{27FA6FF1-6CD7-796C-20AD-6A7F262BC54E}"/>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0550"/>
    </mc:Choice>
    <mc:Fallback xmlns="">
      <p:transition spd="slow" advTm="60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RISKS AND BENEFITS</a:t>
            </a:r>
            <a:endParaRPr dirty="0"/>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sz="2400" dirty="0"/>
              <a:t>Problem — Vulnerabilities can expose sensitive data and disrupt operations.</a:t>
            </a:r>
          </a:p>
          <a:p>
            <a:pPr marL="228600" lvl="0" indent="-228600">
              <a:spcBef>
                <a:spcPts val="0"/>
              </a:spcBef>
              <a:buSzPts val="2000"/>
            </a:pPr>
            <a:r>
              <a:rPr lang="en-US" sz="2400" dirty="0"/>
              <a:t>Solution — Integrate secure coding standards and automated testing into </a:t>
            </a:r>
            <a:r>
              <a:rPr lang="en-US" sz="2400" dirty="0" err="1"/>
              <a:t>DevSecOps</a:t>
            </a:r>
            <a:r>
              <a:rPr lang="en-US" sz="2400" dirty="0"/>
              <a:t>.</a:t>
            </a:r>
          </a:p>
          <a:p>
            <a:pPr marL="228600" lvl="0" indent="-228600">
              <a:spcBef>
                <a:spcPts val="0"/>
              </a:spcBef>
              <a:buSzPts val="2000"/>
            </a:pPr>
            <a:r>
              <a:rPr lang="en-US" sz="2400" dirty="0"/>
              <a:t>Benefits — Earlier detection, lower remediation costs, and stronger application security.</a:t>
            </a:r>
          </a:p>
          <a:p>
            <a:pPr marL="228600" lvl="0" indent="-228600">
              <a:spcBef>
                <a:spcPts val="0"/>
              </a:spcBef>
              <a:buSzPts val="2000"/>
            </a:pPr>
            <a:r>
              <a:rPr lang="en-US" sz="2400" dirty="0"/>
              <a:t>Risks — Implementation costs, false positives, and potential development delays.</a:t>
            </a:r>
          </a:p>
          <a:p>
            <a:pPr marL="228600" lvl="0" indent="-228600">
              <a:spcBef>
                <a:spcPts val="0"/>
              </a:spcBef>
              <a:buSzPts val="2000"/>
            </a:pPr>
            <a:r>
              <a:rPr lang="en-US" sz="2400" dirty="0"/>
              <a:t>Recommendation — Prioritize high-risk vulnerabilities and introduce automated checks throughout development.</a:t>
            </a:r>
            <a:endParaRPr sz="2400" dirty="0"/>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95" name="Video 194">
            <a:hlinkClick r:id="" action="ppaction://media"/>
            <a:extLst>
              <a:ext uri="{FF2B5EF4-FFF2-40B4-BE49-F238E27FC236}">
                <a16:creationId xmlns:a16="http://schemas.microsoft.com/office/drawing/2014/main" id="{30D8A62A-8D25-F857-9618-2076888DC502}"/>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094"/>
    </mc:Choice>
    <mc:Fallback xmlns="">
      <p:transition spd="slow" advTm="630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5"/>
                </p:tgtEl>
              </p:cMediaNode>
            </p:video>
            <p:seq concurrent="1" nextAc="seek">
              <p:cTn id="8" restart="whenNotActive" fill="hold" evtFilter="cancelBubble" nodeType="interactiveSeq">
                <p:stCondLst>
                  <p:cond evt="onClick" delay="0">
                    <p:tgtEl>
                      <p:spTgt spid="19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5"/>
                                        </p:tgtEl>
                                      </p:cBhvr>
                                    </p:cmd>
                                  </p:childTnLst>
                                </p:cTn>
                              </p:par>
                            </p:childTnLst>
                          </p:cTn>
                        </p:par>
                      </p:childTnLst>
                    </p:cTn>
                  </p:par>
                </p:childTnLst>
              </p:cTn>
              <p:nextCondLst>
                <p:cond evt="onClick" delay="0">
                  <p:tgtEl>
                    <p:spTgt spid="19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RECOMMENDATIONS</a:t>
            </a:r>
            <a:endParaRPr dirty="0"/>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a:r>
              <a:rPr lang="en-US" sz="2800" dirty="0"/>
              <a:t>Enforce secure coding standards across development.</a:t>
            </a:r>
          </a:p>
          <a:p>
            <a:pPr lvl="0"/>
            <a:r>
              <a:rPr lang="en-US" sz="2800" dirty="0"/>
              <a:t>Integrate automated testing into the CI/CD pipeline.</a:t>
            </a:r>
          </a:p>
          <a:p>
            <a:pPr lvl="0"/>
            <a:r>
              <a:rPr lang="en-US" sz="2800" dirty="0"/>
              <a:t>Require code reviews and vulnerability scanning.</a:t>
            </a:r>
          </a:p>
          <a:p>
            <a:pPr lvl="0"/>
            <a:r>
              <a:rPr lang="en-US" sz="2800" dirty="0"/>
              <a:t>Provide ongoing developer security training.</a:t>
            </a:r>
          </a:p>
          <a:p>
            <a:pPr lvl="0"/>
            <a:r>
              <a:rPr lang="en-US" sz="2800" dirty="0"/>
              <a:t>Review and update security policies regularly.</a:t>
            </a: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38" name="Video 37">
            <a:hlinkClick r:id="" action="ppaction://media"/>
            <a:extLst>
              <a:ext uri="{FF2B5EF4-FFF2-40B4-BE49-F238E27FC236}">
                <a16:creationId xmlns:a16="http://schemas.microsoft.com/office/drawing/2014/main" id="{47C414DC-F685-B1F6-B19A-0C167289A1E3}"/>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9657"/>
    </mc:Choice>
    <mc:Fallback xmlns="">
      <p:transition spd="slow" advTm="596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8"/>
                </p:tgtEl>
              </p:cMediaNode>
            </p:video>
            <p:seq concurrent="1" nextAc="seek">
              <p:cTn id="8" restart="whenNotActive" fill="hold" evtFilter="cancelBubble" nodeType="interactiveSeq">
                <p:stCondLst>
                  <p:cond evt="onClick" delay="0">
                    <p:tgtEl>
                      <p:spTgt spid="3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8"/>
                                        </p:tgtEl>
                                      </p:cBhvr>
                                    </p:cmd>
                                  </p:childTnLst>
                                </p:cTn>
                              </p:par>
                            </p:childTnLst>
                          </p:cTn>
                        </p:par>
                      </p:childTnLst>
                    </p:cTn>
                  </p:par>
                </p:childTnLst>
              </p:cTn>
              <p:nextCondLst>
                <p:cond evt="onClick" delay="0">
                  <p:tgtEl>
                    <p:spTgt spid="38"/>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0">
              <a:buNone/>
            </a:pPr>
            <a:r>
              <a:rPr lang="en-US" sz="2800" dirty="0"/>
              <a:t>Green Pace should adopt SEI CERT C++ coding standards, enforce input validation, and integrate automated security testing throughout development.</a:t>
            </a:r>
          </a:p>
          <a:p>
            <a:pPr marL="114300" indent="0">
              <a:buNone/>
            </a:pPr>
            <a:endParaRPr lang="en-US" sz="2800" dirty="0"/>
          </a:p>
          <a:p>
            <a:pPr marL="114300" indent="0">
              <a:buNone/>
            </a:pPr>
            <a:r>
              <a:rPr lang="en-US" sz="2800" dirty="0"/>
              <a:t>Combined with encryption, access controls, and defense in depth, these practices reduce vulnerabilities, protect sensitive information, and strengthen long-term software security.</a:t>
            </a:r>
          </a:p>
          <a:p>
            <a:pPr marL="228600" lvl="0" indent="-88900" algn="l" rtl="0">
              <a:lnSpc>
                <a:spcPct val="90000"/>
              </a:lnSpc>
              <a:spcBef>
                <a:spcPts val="1000"/>
              </a:spcBef>
              <a:spcAft>
                <a:spcPts val="0"/>
              </a:spcAft>
              <a:buClr>
                <a:schemeClr val="lt1"/>
              </a:buClr>
              <a:buSzPts val="2200"/>
              <a:buNone/>
            </a:pPr>
            <a:endParaRPr dirty="0"/>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8" name="Video 17">
            <a:hlinkClick r:id="" action="ppaction://media"/>
            <a:extLst>
              <a:ext uri="{FF2B5EF4-FFF2-40B4-BE49-F238E27FC236}">
                <a16:creationId xmlns:a16="http://schemas.microsoft.com/office/drawing/2014/main" id="{DC1D3631-252C-203E-616B-BF9B9E56A9F6}"/>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7"/>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366"/>
    </mc:Choice>
    <mc:Fallback xmlns="">
      <p:transition spd="slow" advTm="663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pPr marL="114300" indent="-457200">
              <a:buNone/>
            </a:pPr>
            <a:r>
              <a:rPr lang="en-US" dirty="0"/>
              <a:t>Google. (n.d.). </a:t>
            </a:r>
            <a:r>
              <a:rPr lang="en-US" i="1" dirty="0" err="1"/>
              <a:t>GoogleTest</a:t>
            </a:r>
            <a:r>
              <a:rPr lang="en-US" i="1" dirty="0"/>
              <a:t> primer</a:t>
            </a:r>
            <a:r>
              <a:rPr lang="en-US" dirty="0"/>
              <a:t>. </a:t>
            </a:r>
            <a:r>
              <a:rPr lang="en-US" dirty="0">
                <a:hlinkClick r:id="rId6"/>
              </a:rPr>
              <a:t>https://google.github.io/googletest/primer.html</a:t>
            </a:r>
            <a:endParaRPr lang="en-US" dirty="0"/>
          </a:p>
          <a:p>
            <a:pPr marL="114300" indent="-457200">
              <a:buNone/>
            </a:pPr>
            <a:endParaRPr lang="en-US" dirty="0"/>
          </a:p>
          <a:p>
            <a:pPr marL="114300" indent="-457200">
              <a:buNone/>
            </a:pPr>
            <a:r>
              <a:rPr lang="en-US" dirty="0"/>
              <a:t>LLVM Project. (n.d.). </a:t>
            </a:r>
            <a:r>
              <a:rPr lang="en-US" i="1" dirty="0"/>
              <a:t>Clang-Tidy</a:t>
            </a:r>
            <a:r>
              <a:rPr lang="en-US" dirty="0"/>
              <a:t>. </a:t>
            </a:r>
            <a:r>
              <a:rPr lang="en-US" dirty="0">
                <a:hlinkClick r:id="rId7"/>
              </a:rPr>
              <a:t>https://clang.llvm.org/extra/clang-tidy/</a:t>
            </a:r>
            <a:endParaRPr lang="en-US" dirty="0"/>
          </a:p>
          <a:p>
            <a:pPr marL="114300" indent="-457200">
              <a:buNone/>
            </a:pPr>
            <a:endParaRPr lang="en-US" dirty="0"/>
          </a:p>
          <a:p>
            <a:pPr marL="114300" indent="-457200">
              <a:buNone/>
            </a:pPr>
            <a:r>
              <a:rPr lang="en-US" dirty="0"/>
              <a:t>Software Engineering Institute. (2017). </a:t>
            </a:r>
            <a:r>
              <a:rPr lang="en-US" i="1" dirty="0"/>
              <a:t>SEI CERT C++ coding standard: Rules for developing safe, reliable, and secure systems (2016 edition).</a:t>
            </a:r>
            <a:r>
              <a:rPr lang="en-US" dirty="0"/>
              <a:t> Carnegie Mellon University. </a:t>
            </a:r>
            <a:r>
              <a:rPr lang="en-US" dirty="0">
                <a:hlinkClick r:id="rId8"/>
              </a:rPr>
              <a:t>https://www.sei.cmu.edu/library/sei-cert-c-coding-standard-rules-for-developing-safe-reliable-and-secure-systems-2016-edition-2/</a:t>
            </a:r>
            <a:endParaRPr lang="en-US" dirty="0"/>
          </a:p>
          <a:p>
            <a:pPr marL="114300" indent="-457200">
              <a:buNone/>
            </a:pPr>
            <a:endParaRPr lang="en-US" dirty="0"/>
          </a:p>
          <a:p>
            <a:pPr marL="114300" indent="-457200">
              <a:buNone/>
            </a:pPr>
            <a:r>
              <a:rPr lang="en-US" dirty="0" err="1"/>
              <a:t>Souppaya</a:t>
            </a:r>
            <a:r>
              <a:rPr lang="en-US" dirty="0"/>
              <a:t>, M., Scarfone, K., &amp; Dodson, D. (2022). </a:t>
            </a:r>
            <a:r>
              <a:rPr lang="en-US" i="1" dirty="0"/>
              <a:t>Secure software development framework (SSDF) version 1.1: Recommendations for mitigating the risk of software vulnerabilities</a:t>
            </a:r>
            <a:r>
              <a:rPr lang="en-US" dirty="0"/>
              <a:t> (NIST SP 800-218). National Institute of Standards and Technology. </a:t>
            </a:r>
            <a:r>
              <a:rPr lang="en-US" dirty="0">
                <a:hlinkClick r:id="rId9"/>
              </a:rPr>
              <a:t>https://doi.org/10.6028/NIST.SP.800-218</a:t>
            </a:r>
            <a:endParaRPr lang="en-US" dirty="0"/>
          </a:p>
        </p:txBody>
      </p:sp>
      <p:pic>
        <p:nvPicPr>
          <p:cNvPr id="239" name="Google Shape;239;p14" descr="Green Pace logo"/>
          <p:cNvPicPr preferRelativeResize="0"/>
          <p:nvPr/>
        </p:nvPicPr>
        <p:blipFill>
          <a:blip r:embed="rId10">
            <a:alphaModFix/>
          </a:blip>
          <a:stretch>
            <a:fillRect/>
          </a:stretch>
        </p:blipFill>
        <p:spPr>
          <a:xfrm>
            <a:off x="11084074" y="5440526"/>
            <a:ext cx="886601" cy="1149225"/>
          </a:xfrm>
          <a:prstGeom prst="rect">
            <a:avLst/>
          </a:prstGeom>
          <a:noFill/>
          <a:ln>
            <a:noFill/>
          </a:ln>
        </p:spPr>
      </p:pic>
      <p:pic>
        <p:nvPicPr>
          <p:cNvPr id="14" name="Video 13">
            <a:hlinkClick r:id="" action="ppaction://media"/>
            <a:extLst>
              <a:ext uri="{FF2B5EF4-FFF2-40B4-BE49-F238E27FC236}">
                <a16:creationId xmlns:a16="http://schemas.microsoft.com/office/drawing/2014/main" id="{E82524F4-4537-08AE-A72D-FC8B61D01056}"/>
              </a:ext>
            </a:extLst>
          </p:cNvPr>
          <p:cNvPicPr>
            <a:picLocks noChangeAspect="1"/>
          </p:cNvPicPr>
          <p:nvPr>
            <a:videoFile r:link="rId3"/>
            <p:extLst>
              <p:ext uri="{DAA4B4D4-6D71-4841-9C94-3DE7FCFB9230}">
                <p14:media xmlns:p14="http://schemas.microsoft.com/office/powerpoint/2010/main" r:embed="rId2"/>
              </p:ext>
              <p:ext uri="{42D2F446-02D8-4167-A562-619A0277C38B}">
                <p15:isNarration xmlns:p15="http://schemas.microsoft.com/office/powerpoint/2012/main" val="1"/>
              </p:ext>
            </p:extLst>
          </p:nvPr>
        </p:nvPicPr>
        <p:blipFill>
          <a:blip r:embed="rId11"/>
          <a:srcRect l="21875" r="21875"/>
          <a:stretch>
            <a:fillRect/>
          </a:stretch>
        </p:blipFill>
        <p:spPr>
          <a:xfrm>
            <a:off x="10052304" y="4718304"/>
            <a:ext cx="2057400" cy="2057400"/>
          </a:xfrm>
          <a:prstGeom prst="ellipse">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5850"/>
    </mc:Choice>
    <mc:Fallback xmlns="">
      <p:transition spd="slow" advTm="25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9B35DD-16B6-4415-A905-CDACA4FC6DBE}">
  <ds:schemaRefs>
    <ds:schemaRef ds:uri="http://purl.org/dc/terms/"/>
    <ds:schemaRef ds:uri="http://www.w3.org/XML/1998/namespace"/>
    <ds:schemaRef ds:uri="http://purl.org/dc/dcmitype/"/>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343</TotalTime>
  <Words>2756</Words>
  <Application>Microsoft Office PowerPoint</Application>
  <PresentationFormat>Widescreen</PresentationFormat>
  <Paragraphs>208</Paragraphs>
  <Slides>18</Slides>
  <Notes>18</Notes>
  <HiddenSlides>0</HiddenSlides>
  <MMClips>18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 Positive Test</vt:lpstr>
      <vt:lpstr>Unit Testing: Negative Test</vt:lpstr>
      <vt:lpstr>Unit Testing: Minimum Boundary Test</vt:lpstr>
      <vt:lpstr>Unit Testing: Maximum Boundary</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Wing, Elizabeth</cp:lastModifiedBy>
  <cp:revision>8</cp:revision>
  <dcterms:created xsi:type="dcterms:W3CDTF">2020-08-19T17:59:24Z</dcterms:created>
  <dcterms:modified xsi:type="dcterms:W3CDTF">2026-10-25T23:36:12Z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